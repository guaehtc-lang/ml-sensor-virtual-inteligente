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pic>
        <p:nvPicPr>
          <p:cNvPr id="4" name="Image 0" descr="/mnt/data/user-77CzXIRA4zBwxNK060r8H6lZ/7abf4807524d45dda0d2a0cd14b5f639/mnt/data/pptx_extract/ppt/media/image1.png">    </p:cNvPr>
          <p:cNvPicPr>
            <a:picLocks noChangeAspect="1"/>
          </p:cNvPicPr>
          <p:nvPr/>
        </p:nvPicPr>
        <p:blipFill>
          <a:blip r:embed="rId1"/>
          <a:srcRect l="9133" r="9133" t="0" b="0"/>
          <a:stretch/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0"/>
            <a:ext cx="6016752" cy="6858000"/>
          </a:xfrm>
          <a:prstGeom prst="rect">
            <a:avLst/>
          </a:prstGeom>
          <a:solidFill>
            <a:srgbClr val="071018">
              <a:alpha val="72000"/>
            </a:srgbClr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530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E0A1"/>
                </a:solidFill>
              </a:rPr>
              <a:t>PROPUESTA DE NEGOCIO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1024128"/>
            <a:ext cx="5897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3000" b="1">
                <a:solidFill>
                  <a:srgbClr val="F5F9FC"/>
                </a:solidFill>
                <a:latin typeface="Aptos"/>
              </a:rPr>
              <a:t>Confianza operativa cuando una señal crítica puede fallar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94360" y="2542032"/>
            <a:ext cx="5623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30" b="0">
                <a:solidFill>
                  <a:srgbClr val="98AEBC"/>
                </a:solidFill>
                <a:latin typeface="Aptos"/>
              </a:rPr>
              <a:t>Hoy presentamos una herramienta de apoyo operacional para estimar el valor esperado de variables críticas, contrastarlo con el dato real y avisar cuando la desviación se mantiene.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1600200" cy="896112"/>
          </a:xfrm>
          <a:prstGeom prst="roundRect">
            <a:avLst>
              <a:gd name="adj" fmla="val 8163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408736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7E0A1"/>
                </a:solidFill>
              </a:rPr>
              <a:t>↓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786384" y="455371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720" b="0">
                <a:solidFill>
                  <a:srgbClr val="98AEBC"/>
                </a:solidFill>
                <a:latin typeface="Aptos"/>
              </a:rPr>
              <a:t>anticipación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2468880" y="3977640"/>
            <a:ext cx="1600200" cy="896112"/>
          </a:xfrm>
          <a:prstGeom prst="roundRect">
            <a:avLst>
              <a:gd name="adj" fmla="val 8163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5184" y="408736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9B233"/>
                </a:solidFill>
              </a:rPr>
              <a:t>⚠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2615184" y="455371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720" b="0">
                <a:solidFill>
                  <a:srgbClr val="98AEBC"/>
                </a:solidFill>
                <a:latin typeface="Aptos"/>
              </a:rPr>
              <a:t>seguridad operacional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4297680" y="3977640"/>
            <a:ext cx="1600200" cy="896112"/>
          </a:xfrm>
          <a:prstGeom prst="roundRect">
            <a:avLst>
              <a:gd name="adj" fmla="val 8163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3984" y="4087368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3D3EE"/>
                </a:solidFill>
              </a:rPr>
              <a:t>↑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4443984" y="455371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720" b="0">
                <a:solidFill>
                  <a:srgbClr val="98AEBC"/>
                </a:solidFill>
                <a:latin typeface="Aptos"/>
              </a:rPr>
              <a:t>trazabilidad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658368" y="5650992"/>
            <a:ext cx="4526280" cy="347472"/>
          </a:xfrm>
          <a:prstGeom prst="roundRect">
            <a:avLst>
              <a:gd name="adj" fmla="val 42105"/>
            </a:avLst>
          </a:prstGeom>
          <a:solidFill>
            <a:srgbClr val="37E0A1">
              <a:alpha val="95000"/>
            </a:srgbClr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573328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1018"/>
                </a:solidFill>
              </a:rPr>
              <a:t>PROTOTIPO EJECUTABLE · DEMO STREAMLIT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EA3"/>
                </a:solidFill>
              </a:rPr>
              <a:t>SOFT SENSOR INDUSTRIAL · propuesta negocio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064240" y="63825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7E0A1"/>
                </a:solidFill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E0A1"/>
                </a:solidFill>
              </a:rPr>
              <a:t>01 · OPORTUNIDAD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no es no tener datos. Es confiar en un dato falso.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F8EA3"/>
                </a:solidFill>
              </a:rPr>
              <a:t>En una planta industrial, un sensor puede degradarse lentamente y seguir alimentando decisiones de proceso.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" y="1920240"/>
            <a:ext cx="306324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20240"/>
            <a:ext cx="54864" cy="12344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48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4F7FB"/>
                </a:solidFill>
              </a:rPr>
              <a:t>Señal degradada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877824" y="2414016"/>
            <a:ext cx="2752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7D2DF"/>
                </a:solidFill>
              </a:rPr>
              <a:t>El sensor sigue entregando números, pero ya no representa la condición real.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553712" y="1920240"/>
            <a:ext cx="306324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1920240"/>
            <a:ext cx="54864" cy="1234440"/>
          </a:xfrm>
          <a:prstGeom prst="rect">
            <a:avLst/>
          </a:prstGeom>
          <a:solidFill>
            <a:srgbClr val="FF667A"/>
          </a:solidFill>
          <a:ln w="12700">
            <a:solidFill>
              <a:srgbClr val="FF66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2048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4F7FB"/>
                </a:solidFill>
              </a:rPr>
              <a:t>Decisión equivocada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4718304" y="2414016"/>
            <a:ext cx="2752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7D2DF"/>
                </a:solidFill>
              </a:rPr>
              <a:t>El operador o el control actúan sobre una referencia deteriorada.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394192" y="1920240"/>
            <a:ext cx="306324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1920240"/>
            <a:ext cx="54864" cy="1234440"/>
          </a:xfrm>
          <a:prstGeom prst="rect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58784" y="2048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4F7FB"/>
                </a:solidFill>
              </a:rPr>
              <a:t>Coste oculto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558784" y="2414016"/>
            <a:ext cx="2752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7D2DF"/>
                </a:solidFill>
              </a:rPr>
              <a:t>La pérdida se detecta tarde: calidad, rendimiento, energía, parada o riesgo.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3858768" y="2542032"/>
            <a:ext cx="603504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9248" y="2542032"/>
            <a:ext cx="603504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7240" y="3886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</a:rPr>
              <a:t>Ejemplos de impacto empresarial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8680" y="4572000"/>
            <a:ext cx="2240280" cy="713232"/>
          </a:xfrm>
          <a:prstGeom prst="roundRect">
            <a:avLst>
              <a:gd name="adj" fmla="val 8974"/>
            </a:avLst>
          </a:prstGeom>
          <a:solidFill>
            <a:srgbClr val="0D1620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572000"/>
            <a:ext cx="54864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4700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Nivel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1033272" y="506577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2DF"/>
                </a:solidFill>
              </a:rPr>
              <a:t>extracción incorrecta / rebose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0" y="4572000"/>
            <a:ext cx="2240280" cy="713232"/>
          </a:xfrm>
          <a:prstGeom prst="roundRect">
            <a:avLst>
              <a:gd name="adj" fmla="val 8974"/>
            </a:avLst>
          </a:prstGeom>
          <a:solidFill>
            <a:srgbClr val="0D1620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4572000"/>
            <a:ext cx="54864" cy="713232"/>
          </a:xfrm>
          <a:prstGeom prst="rect">
            <a:avLst/>
          </a:prstGeom>
          <a:solidFill>
            <a:srgbClr val="FF667A"/>
          </a:solidFill>
          <a:ln w="12700">
            <a:solidFill>
              <a:srgbClr val="FF66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4700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Presión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3822192" y="506577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2DF"/>
                </a:solidFill>
              </a:rPr>
              <a:t>sobrepresión o operación fuera de margen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4572000"/>
            <a:ext cx="2240280" cy="713232"/>
          </a:xfrm>
          <a:prstGeom prst="roundRect">
            <a:avLst>
              <a:gd name="adj" fmla="val 8974"/>
            </a:avLst>
          </a:prstGeom>
          <a:solidFill>
            <a:srgbClr val="0D1620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572000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4700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Vacío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611112" y="506577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2DF"/>
                </a:solidFill>
              </a:rPr>
              <a:t>pérdida de régimen y eficiencia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35440" y="4572000"/>
            <a:ext cx="2240280" cy="713232"/>
          </a:xfrm>
          <a:prstGeom prst="roundRect">
            <a:avLst>
              <a:gd name="adj" fmla="val 8974"/>
            </a:avLst>
          </a:prstGeom>
          <a:solidFill>
            <a:srgbClr val="0D1620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35440" y="4572000"/>
            <a:ext cx="54864" cy="713232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0032" y="47000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Temperatura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9400032" y="506577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2DF"/>
                </a:solidFill>
              </a:rPr>
              <a:t>desviación térmica y calidad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EA3"/>
                </a:solidFill>
              </a:rPr>
              <a:t>SOFT SENSOR INDUSTRIAL · propuesta negocio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3825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7E0A1"/>
                </a:solidFill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E0A1"/>
                </a:solidFill>
              </a:rPr>
              <a:t>02 · PRODUCTO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referencia independiente para decidir mejor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F8EA3"/>
                </a:solidFill>
              </a:rPr>
              <a:t>La herramienta no sustituye al sensor: calcula cuánto debería medir y avisa si la diferencia persiste.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48840"/>
            <a:ext cx="54864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276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4F7FB"/>
                </a:solidFill>
              </a:rPr>
              <a:t>Datos de planta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1170432" y="2642616"/>
            <a:ext cx="1746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DF"/>
                </a:solidFill>
              </a:rPr>
              <a:t>presión · vacío · temperatura · caudal · densidad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2770632"/>
            <a:ext cx="228600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10712" y="214884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2148840"/>
            <a:ext cx="54864" cy="123444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2276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4F7FB"/>
                </a:solidFill>
              </a:rPr>
              <a:t>Valor esperado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3575304" y="2642616"/>
            <a:ext cx="1746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DF"/>
                </a:solidFill>
              </a:rPr>
              <a:t>predicción cercana a la condición real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13832" y="2770632"/>
            <a:ext cx="228600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15584" y="214884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5584" y="2148840"/>
            <a:ext cx="54864" cy="123444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0176" y="2276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4F7FB"/>
                </a:solidFill>
              </a:rPr>
              <a:t>Comparación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5980176" y="2642616"/>
            <a:ext cx="1746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DF"/>
                </a:solidFill>
              </a:rPr>
              <a:t>sensor real vs valor calculado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18704" y="2770632"/>
            <a:ext cx="228600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0456" y="214884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148840"/>
            <a:ext cx="54864" cy="1234440"/>
          </a:xfrm>
          <a:prstGeom prst="rect">
            <a:avLst/>
          </a:prstGeom>
          <a:solidFill>
            <a:srgbClr val="FF667A"/>
          </a:solidFill>
          <a:ln w="12700">
            <a:solidFill>
              <a:srgbClr val="FF6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5048" y="22768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F4F7FB"/>
                </a:solidFill>
              </a:rPr>
              <a:t>Alerta sostenida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8385048" y="2642616"/>
            <a:ext cx="1746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DF"/>
                </a:solidFill>
              </a:rPr>
              <a:t>aviso solo si el error persiste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42519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</a:rPr>
              <a:t>Qué ve operación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34440" y="480060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4800600"/>
            <a:ext cx="54864" cy="7315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99032" y="4928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Real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99032" y="529437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dato del sensor físico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58768" y="480060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8768" y="4800600"/>
            <a:ext cx="54864" cy="73152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4928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Calculado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23360" y="529437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segunda opinión digital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83096" y="480060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83096" y="4800600"/>
            <a:ext cx="54864" cy="73152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4928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Residual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47688" y="529437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distancia entre ambos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07424" y="4800600"/>
            <a:ext cx="2423160" cy="731520"/>
          </a:xfrm>
          <a:prstGeom prst="roundRect">
            <a:avLst>
              <a:gd name="adj" fmla="val 875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07424" y="4800600"/>
            <a:ext cx="54864" cy="731520"/>
          </a:xfrm>
          <a:prstGeom prst="rect">
            <a:avLst/>
          </a:prstGeom>
          <a:solidFill>
            <a:srgbClr val="FF667A"/>
          </a:solidFill>
          <a:ln w="12700">
            <a:solidFill>
              <a:srgbClr val="FF66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72016" y="4928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Estado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272016" y="5294376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normal / alerta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EA3"/>
                </a:solidFill>
              </a:rPr>
              <a:t>SOFT SENSOR INDUSTRIAL · propuesta negocio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0" y="63825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7E0A1"/>
                </a:solidFill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2DDC9B"/>
                </a:solidFill>
                <a:latin typeface="Aptos"/>
              </a:rPr>
              <a:t>03 · USO OPERATIVO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400" b="1">
                <a:solidFill>
                  <a:srgbClr val="F5F9FC"/>
                </a:solidFill>
                <a:latin typeface="Aptos"/>
              </a:rPr>
              <a:t>De una señal dudosa a una actuación con contexto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50" b="0">
                <a:solidFill>
                  <a:srgbClr val="98AEBC"/>
                </a:solidFill>
                <a:latin typeface="Aptos"/>
              </a:rPr>
              <a:t>La herramienta no decide por la planta: aporta una segunda referencia para confirmar desviaciones y actuar antes.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EA3"/>
                </a:solidFill>
              </a:rPr>
              <a:t>SOFT SENSOR INDUSTRIAL · propuesta negocio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3825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7E0A1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Rounded Rectangle 22"/>
          <p:cNvSpPr/>
          <p:nvPr/>
        </p:nvSpPr>
        <p:spPr>
          <a:xfrm>
            <a:off x="658368" y="1874519"/>
            <a:ext cx="2514600" cy="1417320"/>
          </a:xfrm>
          <a:prstGeom prst="roundRect">
            <a:avLst/>
          </a:prstGeom>
          <a:solidFill>
            <a:srgbClr val="0C1F2B"/>
          </a:solidFill>
          <a:ln w="10160">
            <a:solidFill>
              <a:srgbClr val="2A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874519"/>
            <a:ext cx="54864" cy="1417320"/>
          </a:xfrm>
          <a:prstGeom prst="rect">
            <a:avLst/>
          </a:prstGeom>
          <a:solidFill>
            <a:srgbClr val="2D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1993391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50" b="1">
                <a:solidFill>
                  <a:srgbClr val="F5F9FC"/>
                </a:solidFill>
                <a:latin typeface="Aptos"/>
              </a:rPr>
              <a:t>1 · Detectar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2377439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60" b="0">
                <a:solidFill>
                  <a:srgbClr val="98AEBC"/>
                </a:solidFill>
                <a:latin typeface="Aptos"/>
              </a:rPr>
              <a:t>Compara continuamente la medición real con el valor esperado por el modelo.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1256" y="2441448"/>
            <a:ext cx="31089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DDC9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39" y="1874519"/>
            <a:ext cx="2514600" cy="1417320"/>
          </a:xfrm>
          <a:prstGeom prst="roundRect">
            <a:avLst/>
          </a:prstGeom>
          <a:solidFill>
            <a:srgbClr val="0C1F2B"/>
          </a:solidFill>
          <a:ln w="10160">
            <a:solidFill>
              <a:srgbClr val="2A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39" y="1874519"/>
            <a:ext cx="54864" cy="1417320"/>
          </a:xfrm>
          <a:prstGeom prst="rect">
            <a:avLst/>
          </a:prstGeom>
          <a:solidFill>
            <a:srgbClr val="00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1993391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50" b="1">
                <a:solidFill>
                  <a:srgbClr val="F5F9FC"/>
                </a:solidFill>
                <a:latin typeface="Aptos"/>
              </a:rPr>
              <a:t>2 · Confirmar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2377439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60" b="0">
                <a:solidFill>
                  <a:srgbClr val="98AEBC"/>
                </a:solidFill>
                <a:latin typeface="Aptos"/>
              </a:rPr>
              <a:t>La alerta solo aparece si la desviación supera el umbral y persiste.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7" y="2441448"/>
            <a:ext cx="31089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0CEFF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1874519"/>
            <a:ext cx="2514600" cy="1417320"/>
          </a:xfrm>
          <a:prstGeom prst="roundRect">
            <a:avLst/>
          </a:prstGeom>
          <a:solidFill>
            <a:srgbClr val="0C1F2B"/>
          </a:solidFill>
          <a:ln w="10160">
            <a:solidFill>
              <a:srgbClr val="2A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82512" y="1874519"/>
            <a:ext cx="54864" cy="1417320"/>
          </a:xfrm>
          <a:prstGeom prst="rect">
            <a:avLst/>
          </a:prstGeom>
          <a:solidFill>
            <a:srgbClr val="FF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1993391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50" b="1">
                <a:solidFill>
                  <a:srgbClr val="F5F9FC"/>
                </a:solidFill>
                <a:latin typeface="Aptos"/>
              </a:rPr>
              <a:t>3 · Interpretar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2377439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60" b="0">
                <a:solidFill>
                  <a:srgbClr val="98AEBC"/>
                </a:solidFill>
                <a:latin typeface="Aptos"/>
              </a:rPr>
              <a:t>Muestra inicio, duración, magnitud y variables asociadas al evento.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441448"/>
            <a:ext cx="31089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C842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44584" y="1874519"/>
            <a:ext cx="2514600" cy="1417320"/>
          </a:xfrm>
          <a:prstGeom prst="roundRect">
            <a:avLst/>
          </a:prstGeom>
          <a:solidFill>
            <a:srgbClr val="0C1F2B"/>
          </a:solidFill>
          <a:ln w="10160">
            <a:solidFill>
              <a:srgbClr val="2A4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44584" y="1874519"/>
            <a:ext cx="54864" cy="1417320"/>
          </a:xfrm>
          <a:prstGeom prst="rect">
            <a:avLst/>
          </a:prstGeom>
          <a:solidFill>
            <a:srgbClr val="AD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90888" y="1993391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50" b="1">
                <a:solidFill>
                  <a:srgbClr val="F5F9FC"/>
                </a:solidFill>
                <a:latin typeface="Aptos"/>
              </a:rPr>
              <a:t>4 · Actuar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2377439"/>
            <a:ext cx="22402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60" b="0">
                <a:solidFill>
                  <a:srgbClr val="98AEBC"/>
                </a:solidFill>
                <a:latin typeface="Aptos"/>
              </a:rPr>
              <a:t>Revisar sensor, contrastar proceso o preparar intervención controlada.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498848"/>
            <a:ext cx="1046988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5F9FC"/>
                </a:solidFill>
                <a:latin typeface="Aptos"/>
              </a:rPr>
              <a:t>Resultado: la planta deja de depender de una señal aislada y dispone de contexto antes de que la desviación se convierta en pérdida, parada o riesgo.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358384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40" b="0">
                <a:solidFill>
                  <a:srgbClr val="98AEBC"/>
                </a:solidFill>
                <a:latin typeface="Aptos"/>
              </a:rPr>
              <a:t>No sustituye protecciones ni criterio operativo: refuerza la toma de decisiones con una referencia predictiva trazable.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5D399"/>
                </a:solidFill>
                <a:latin typeface="Aptos"/>
              </a:rPr>
              <a:t>04 · PILOTO Y DEMO EJECUTABLE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23960" y="320040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Aptos"/>
              </a:rPr>
              <a:t>SOFT SENSOR INDUSTRIAL · propuesta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320040"/>
            <a:ext cx="594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5D399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7955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3F6FA"/>
                </a:solidFill>
                <a:latin typeface="Aptos Display"/>
              </a:rPr>
              <a:t>Del piloto a la capa predictiva de planta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  <a:latin typeface="Aptos"/>
              </a:rPr>
              <a:t>Empezamos con 1–2 variables críticas y, si aportan valor, replicamos la misma arquitectura en otros puntos del proceso.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394960" cy="3383280"/>
          </a:xfrm>
          <a:prstGeom prst="roundRect">
            <a:avLst/>
          </a:prstGeom>
          <a:solidFill>
            <a:srgbClr val="0E182A"/>
          </a:solidFill>
          <a:ln w="12700">
            <a:solidFill>
              <a:srgbClr val="2B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3969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3F6FA"/>
                </a:solidFill>
              </a:rPr>
              <a:t>Piloto inmediato: validar valor con datos reales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2633472"/>
            <a:ext cx="310896" cy="310896"/>
          </a:xfrm>
          <a:prstGeom prst="ellipse">
            <a:avLst/>
          </a:prstGeom>
          <a:solidFill>
            <a:srgbClr val="3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674620"/>
            <a:ext cx="310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80E1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15184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6FA"/>
                </a:solidFill>
              </a:rPr>
              <a:t>Elegir variable crítica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852928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</a:rPr>
              <a:t>impacto económico o de seguridad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255264"/>
            <a:ext cx="310896" cy="310896"/>
          </a:xfrm>
          <a:prstGeom prst="ellipse">
            <a:avLst/>
          </a:prstGeom>
          <a:solidFill>
            <a:srgbClr val="3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96412"/>
            <a:ext cx="310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80E1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36976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6FA"/>
                </a:solidFill>
              </a:rPr>
              <a:t>Conectar histórico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47472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</a:rPr>
              <a:t>SCADA · PLC · historiador industrial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3877056"/>
            <a:ext cx="310896" cy="310896"/>
          </a:xfrm>
          <a:prstGeom prst="ellipse">
            <a:avLst/>
          </a:prstGeom>
          <a:solidFill>
            <a:srgbClr val="3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18204"/>
            <a:ext cx="310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80E1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858768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6FA"/>
                </a:solidFill>
              </a:rPr>
              <a:t>Validar residual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096512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</a:rPr>
              <a:t>real vs calculado · umbral · persistencia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4498848"/>
            <a:ext cx="310896" cy="310896"/>
          </a:xfrm>
          <a:prstGeom prst="ellipse">
            <a:avLst/>
          </a:prstGeom>
          <a:solidFill>
            <a:srgbClr val="35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539996"/>
            <a:ext cx="3108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80E1A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480560"/>
            <a:ext cx="4251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6FA"/>
                </a:solidFill>
              </a:rPr>
              <a:t>Operar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718304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94A3B8"/>
                </a:solidFill>
              </a:rPr>
              <a:t>alerta visual y trazabilidad del evento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920240"/>
            <a:ext cx="5486400" cy="3383280"/>
          </a:xfrm>
          <a:prstGeom prst="roundRect">
            <a:avLst/>
          </a:prstGeom>
          <a:solidFill>
            <a:srgbClr val="0E182A"/>
          </a:solidFill>
          <a:ln w="12700">
            <a:solidFill>
              <a:srgbClr val="2B3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139696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3F6FA"/>
                </a:solidFill>
              </a:rPr>
              <a:t>Escalabilidad: misma lógica, nuevos targets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651760"/>
            <a:ext cx="1207008" cy="320040"/>
          </a:xfrm>
          <a:prstGeom prst="roundRect">
            <a:avLst/>
          </a:prstGeom>
          <a:solidFill>
            <a:srgbClr val="17263E"/>
          </a:solidFill>
          <a:ln w="1397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720340"/>
            <a:ext cx="120700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3F6FA"/>
                </a:solidFill>
              </a:rPr>
              <a:t>Nivel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2651760"/>
            <a:ext cx="1207008" cy="320040"/>
          </a:xfrm>
          <a:prstGeom prst="roundRect">
            <a:avLst/>
          </a:prstGeom>
          <a:solidFill>
            <a:srgbClr val="17263E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720340"/>
            <a:ext cx="120700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3F6FA"/>
                </a:solidFill>
              </a:rPr>
              <a:t>Presión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651760"/>
            <a:ext cx="1207008" cy="320040"/>
          </a:xfrm>
          <a:prstGeom prst="roundRect">
            <a:avLst/>
          </a:prstGeom>
          <a:solidFill>
            <a:srgbClr val="17263E"/>
          </a:solidFill>
          <a:ln w="13970"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720340"/>
            <a:ext cx="120700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3F6FA"/>
                </a:solidFill>
              </a:rPr>
              <a:t>Vacío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154680"/>
            <a:ext cx="1207008" cy="320040"/>
          </a:xfrm>
          <a:prstGeom prst="roundRect">
            <a:avLst/>
          </a:prstGeom>
          <a:solidFill>
            <a:srgbClr val="17263E"/>
          </a:solidFill>
          <a:ln w="1397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223260"/>
            <a:ext cx="120700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3F6FA"/>
                </a:solidFill>
              </a:rPr>
              <a:t>Temperatura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3154680"/>
            <a:ext cx="1207008" cy="320040"/>
          </a:xfrm>
          <a:prstGeom prst="roundRect">
            <a:avLst/>
          </a:prstGeom>
          <a:solidFill>
            <a:srgbClr val="17263E"/>
          </a:solidFill>
          <a:ln w="1397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3223260"/>
            <a:ext cx="120700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3F6FA"/>
                </a:solidFill>
              </a:rPr>
              <a:t>Caudal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3154680"/>
            <a:ext cx="1207008" cy="320040"/>
          </a:xfrm>
          <a:prstGeom prst="roundRect">
            <a:avLst/>
          </a:prstGeom>
          <a:solidFill>
            <a:srgbClr val="17263E"/>
          </a:solidFill>
          <a:ln w="13970"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3223260"/>
            <a:ext cx="120700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3F6FA"/>
                </a:solidFill>
              </a:rPr>
              <a:t>Densidad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86200"/>
            <a:ext cx="786384" cy="347472"/>
          </a:xfrm>
          <a:prstGeom prst="roundRect">
            <a:avLst/>
          </a:prstGeom>
          <a:solidFill>
            <a:srgbClr val="18273E"/>
          </a:solidFill>
          <a:ln w="12700"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973068"/>
            <a:ext cx="786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3F6FA"/>
                </a:solidFill>
              </a:rPr>
              <a:t>Target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77456" y="4050791"/>
            <a:ext cx="274319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470648" y="3886200"/>
            <a:ext cx="786384" cy="347472"/>
          </a:xfrm>
          <a:prstGeom prst="roundRect">
            <a:avLst/>
          </a:prstGeom>
          <a:solidFill>
            <a:srgbClr val="1827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3973068"/>
            <a:ext cx="786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3F6FA"/>
                </a:solidFill>
              </a:rPr>
              <a:t>Features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47304" y="4050791"/>
            <a:ext cx="2743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540496" y="3886200"/>
            <a:ext cx="786384" cy="347472"/>
          </a:xfrm>
          <a:prstGeom prst="roundRect">
            <a:avLst/>
          </a:prstGeom>
          <a:solidFill>
            <a:srgbClr val="1827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3973068"/>
            <a:ext cx="786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3F6FA"/>
                </a:solidFill>
              </a:rPr>
              <a:t>Modelo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217152" y="4050791"/>
            <a:ext cx="2743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610344" y="3886200"/>
            <a:ext cx="786384" cy="347472"/>
          </a:xfrm>
          <a:prstGeom prst="roundRect">
            <a:avLst/>
          </a:prstGeom>
          <a:solidFill>
            <a:srgbClr val="1827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10344" y="3973068"/>
            <a:ext cx="786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3F6FA"/>
                </a:solidFill>
              </a:rPr>
              <a:t>Residual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87000" y="4050791"/>
            <a:ext cx="274319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680192" y="3886200"/>
            <a:ext cx="786384" cy="347472"/>
          </a:xfrm>
          <a:prstGeom prst="roundRect">
            <a:avLst/>
          </a:prstGeom>
          <a:solidFill>
            <a:srgbClr val="18273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80192" y="3973068"/>
            <a:ext cx="78638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3F6FA"/>
                </a:solidFill>
              </a:rPr>
              <a:t>Alerta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535424"/>
            <a:ext cx="4800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94A3B8"/>
                </a:solidFill>
              </a:rPr>
              <a:t>No se rehace el proyecto: se cambia el target, se ajustan variables y se entrena el modelo adecuado.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596128"/>
            <a:ext cx="11155680" cy="713232"/>
          </a:xfrm>
          <a:prstGeom prst="roundRect">
            <a:avLst/>
          </a:prstGeom>
          <a:solidFill>
            <a:srgbClr val="11363A"/>
          </a:solidFill>
          <a:ln w="15240"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806440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3F6FA"/>
                </a:solidFill>
              </a:rPr>
              <a:t>Ahora abrimos Streamlit: </a:t>
            </a:r>
            <a:r>
              <a:rPr sz="1600" b="1">
                <a:solidFill>
                  <a:srgbClr val="35D399"/>
                </a:solidFill>
              </a:rPr>
              <a:t>real vs virtual · residual · umbral · estado de alerta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E0A1"/>
                </a:solidFill>
              </a:rPr>
              <a:t>05 · SIGUIENTE PASO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Piloto acotado: demostrar valor antes de escalar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F8EA3"/>
                </a:solidFill>
              </a:rPr>
              <a:t>La venta no empieza con una plataforma completa: empieza con 1–2 variables críticas y un objetivo medible.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94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18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2240280" cy="1143000"/>
          </a:xfrm>
          <a:prstGeom prst="roundRect">
            <a:avLst>
              <a:gd name="adj" fmla="val 560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80360"/>
            <a:ext cx="54864" cy="1143000"/>
          </a:xfrm>
          <a:prstGeom prst="rect">
            <a:avLst/>
          </a:prstGeom>
          <a:solidFill>
            <a:srgbClr val="37E0A1"/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0083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Elegir variable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96112" y="3374136"/>
            <a:ext cx="19293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impacto económico o de seguridad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2971800"/>
            <a:ext cx="365760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20440" y="2057400"/>
            <a:ext cx="640080" cy="640080"/>
          </a:xfrm>
          <a:prstGeom prst="ellipse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94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18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20440" y="2880360"/>
            <a:ext cx="2240280" cy="1143000"/>
          </a:xfrm>
          <a:prstGeom prst="roundRect">
            <a:avLst>
              <a:gd name="adj" fmla="val 560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2880360"/>
            <a:ext cx="54864" cy="1143000"/>
          </a:xfrm>
          <a:prstGeom prst="rect">
            <a:avLst/>
          </a:prstGeom>
          <a:solidFill>
            <a:srgbClr val="23D3EE"/>
          </a:solidFill>
          <a:ln w="12700">
            <a:solidFill>
              <a:srgbClr val="23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85032" y="30083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Conectar histórico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685032" y="3374136"/>
            <a:ext cx="19293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datos SCADA / PLC / historiador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2971800"/>
            <a:ext cx="365760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057400"/>
            <a:ext cx="640080" cy="64008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194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18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880360"/>
            <a:ext cx="2240280" cy="1143000"/>
          </a:xfrm>
          <a:prstGeom prst="roundRect">
            <a:avLst>
              <a:gd name="adj" fmla="val 560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880360"/>
            <a:ext cx="54864" cy="1143000"/>
          </a:xfrm>
          <a:prstGeom prst="rect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0083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Validar residual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473952" y="3374136"/>
            <a:ext cx="19293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desviación, persistencia y umbral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41080" y="2971800"/>
            <a:ext cx="365760" cy="0"/>
          </a:xfrm>
          <a:prstGeom prst="line">
            <a:avLst/>
          </a:prstGeom>
          <a:noFill/>
          <a:ln w="17780">
            <a:solidFill>
              <a:srgbClr val="7F8EA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98280" y="205740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2194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18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98280" y="2880360"/>
            <a:ext cx="2240280" cy="1143000"/>
          </a:xfrm>
          <a:prstGeom prst="roundRect">
            <a:avLst>
              <a:gd name="adj" fmla="val 5600"/>
            </a:avLst>
          </a:prstGeom>
          <a:solidFill>
            <a:srgbClr val="111D29"/>
          </a:solidFill>
          <a:ln w="12700">
            <a:solidFill>
              <a:srgbClr val="2638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8280" y="2880360"/>
            <a:ext cx="54864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62872" y="30083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4F7FB"/>
                </a:solidFill>
              </a:rPr>
              <a:t>Operar dashboard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9262872" y="3374136"/>
            <a:ext cx="19293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2DF"/>
                </a:solidFill>
              </a:rPr>
              <a:t>demo, alertas y trazabilidad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461772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Propuesta comercial inmediata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34440" y="52120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30" dirty="0">
                <a:solidFill>
                  <a:srgbClr val="C7D2DF"/>
                </a:solidFill>
              </a:rPr>
              <a:t>Seleccionar variables con coste o riesgo claro, probar el modelo con histórico real y medir cuántas desviaciones habrían sido detectadas antes.</a:t>
            </a:r>
            <a:endParaRPr lang="en-US" sz="1430" dirty="0"/>
          </a:p>
        </p:txBody>
      </p:sp>
      <p:sp>
        <p:nvSpPr>
          <p:cNvPr id="36" name="Shape 34"/>
          <p:cNvSpPr/>
          <p:nvPr/>
        </p:nvSpPr>
        <p:spPr>
          <a:xfrm>
            <a:off x="3675888" y="5897880"/>
            <a:ext cx="4754880" cy="347472"/>
          </a:xfrm>
          <a:prstGeom prst="roundRect">
            <a:avLst>
              <a:gd name="adj" fmla="val 42105"/>
            </a:avLst>
          </a:prstGeom>
          <a:solidFill>
            <a:srgbClr val="37E0A1">
              <a:alpha val="95000"/>
            </a:srgbClr>
          </a:solidFill>
          <a:ln w="12700">
            <a:solidFill>
              <a:srgbClr val="37E0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59801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71018"/>
                </a:solidFill>
              </a:rPr>
              <a:t>OBJETIVO: DECIDIR CON DATOS MÁS FIABLES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02920" y="64922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EA3"/>
                </a:solidFill>
              </a:rPr>
              <a:t>SOFT SENSOR INDUSTRIAL · propuesta negocio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38251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7E0A1"/>
                </a:solidFill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Proyecto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Sensor Industrial — propuesta de negocio</dc:title>
  <dc:subject>Presentación de negocio Soft Sensor LT411</dc:subject>
  <dc:creator>OpenAI</dc:creator>
  <cp:lastModifiedBy>OpenAI</cp:lastModifiedBy>
  <cp:revision>1</cp:revision>
  <dcterms:created xsi:type="dcterms:W3CDTF">2026-06-15T20:45:32Z</dcterms:created>
  <dcterms:modified xsi:type="dcterms:W3CDTF">2026-06-15T20:45:32Z</dcterms:modified>
</cp:coreProperties>
</file>