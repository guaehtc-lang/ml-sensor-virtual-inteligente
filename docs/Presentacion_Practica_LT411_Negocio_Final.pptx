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070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143000"/>
            <a:ext cx="57150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Sensor Virtual Inteligente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5806440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Una herramienta para decidir antes de que el sensor </a:t>
            </a:r>
            <a:r>
              <a:rPr lang="en-US" sz="2400" b="1" dirty="0" err="1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falle</a:t>
            </a:r>
            <a:endParaRPr lang="en-US" sz="2400" b="1" dirty="0">
              <a:solidFill>
                <a:srgbClr val="39C5F6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0" cy="868680"/>
          </a:xfrm>
          <a:prstGeom prst="line">
            <a:avLst/>
          </a:prstGeom>
          <a:noFill/>
          <a:ln w="1651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824868"/>
            <a:ext cx="5166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Presentación de negocio para </a:t>
            </a:r>
            <a:r>
              <a:rPr lang="en-US" sz="1500" dirty="0" err="1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mejorar</a:t>
            </a:r>
            <a:r>
              <a:rPr lang="en-US" sz="1500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producción y mantenimiento.</a:t>
            </a:r>
            <a:endParaRPr lang="en-US" sz="1500" dirty="0"/>
          </a:p>
        </p:txBody>
      </p:sp>
      <p:pic>
        <p:nvPicPr>
          <p:cNvPr id="7" name="Image 0" descr="/mnt/data/ghostwriter_images/web_context/web_image_ae6f8494a252.png"/>
          <p:cNvPicPr>
            <a:picLocks noChangeAspect="1"/>
          </p:cNvPicPr>
          <p:nvPr/>
        </p:nvPicPr>
        <p:blipFill>
          <a:blip r:embed="rId3"/>
          <a:srcRect t="4124" b="4124"/>
          <a:stretch/>
        </p:blipFill>
        <p:spPr>
          <a:xfrm>
            <a:off x="6629400" y="1234440"/>
            <a:ext cx="4434840" cy="4069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5468112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 un proyecto de ML a una pantalla útil para operación.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 EL PROBLEMA: CUANDO UNA MEDIDA YA NO ES FIABLE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 planta se decide con datos. Si un sensor crítico empieza a medir mal, la pantalla puede seguir pareciendo normal.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4663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problema no es solo que el sensor falle. El riesgo real es tomar decisiones tarde o sobre una señal equivocada.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715000" y="1508760"/>
            <a:ext cx="5074920" cy="3291840"/>
          </a:xfrm>
          <a:prstGeom prst="roundRect">
            <a:avLst>
              <a:gd name="adj" fmla="val 2500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Ejemplo operativo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89320" y="2212848"/>
            <a:ext cx="42519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El nivel parece estable.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El proceso cambia.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El control sigue actuando.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El problema aparece cuando ya es tarde.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89320" y="4005072"/>
            <a:ext cx="4343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Para un director de planta, esto se traduce en incertidumbre operativa.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02. EL COSTE DE LLEGAR TARDE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 sensor degradado no siempre dispara una alarma clara. Muchas veces solo genera pequeñas decisiones incorrectas durante horas.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2423160" cy="2377440"/>
          </a:xfrm>
          <a:prstGeom prst="roundRect">
            <a:avLst>
              <a:gd name="adj" fmla="val 3462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103120"/>
            <a:ext cx="2057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Producción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6968" y="2697480"/>
            <a:ext cx="20116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Paradas, ajustes manuales y pérdida de estabilidad.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1874520"/>
            <a:ext cx="2423160" cy="2377440"/>
          </a:xfrm>
          <a:prstGeom prst="roundRect">
            <a:avLst>
              <a:gd name="adj" fmla="val 3462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103120"/>
            <a:ext cx="2057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Calidad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30168" y="2697480"/>
            <a:ext cx="20116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Nivel fuera de rango y producto menos consistente.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2423160" cy="2377440"/>
          </a:xfrm>
          <a:prstGeom prst="roundRect">
            <a:avLst>
              <a:gd name="adj" fmla="val 3462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2103120"/>
            <a:ext cx="2057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9D8A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Mantenimiento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73368" y="2697480"/>
            <a:ext cx="20116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Intervención reactiva en lugar de planificada.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15400" y="1874520"/>
            <a:ext cx="2423160" cy="2377440"/>
          </a:xfrm>
          <a:prstGeom prst="roundRect">
            <a:avLst>
              <a:gd name="adj" fmla="val 3462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9992" y="2103120"/>
            <a:ext cx="2057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64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Dirección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16568" y="2697480"/>
            <a:ext cx="20116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Menos visibilidad sobre el riesgo real de la planta.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074920"/>
            <a:ext cx="9646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oportunidad: añadir una señal de confianza antes de decidir.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03. LA SOLUCIÓN: UN SEGUNDO PUNTO DE VISTA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sensor virtual estima cuál debería ser el nivel usando el resto de señales del proceso.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2057400" cy="1097280"/>
          </a:xfrm>
          <a:prstGeom prst="roundRect">
            <a:avLst>
              <a:gd name="adj" fmla="val 7500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94560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Sensor real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33472"/>
            <a:ext cx="1691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LT411 medido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2450592"/>
            <a:ext cx="256032" cy="228600"/>
          </a:xfrm>
          <a:prstGeom prst="chevron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011680"/>
            <a:ext cx="2148840" cy="1097280"/>
          </a:xfrm>
          <a:prstGeom prst="roundRect">
            <a:avLst>
              <a:gd name="adj" fmla="val 7500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Datos de planta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7872" y="2633472"/>
            <a:ext cx="1920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presión · vapor · vacío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0" y="2450592"/>
            <a:ext cx="256032" cy="228600"/>
          </a:xfrm>
          <a:prstGeom prst="chevron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011680"/>
            <a:ext cx="2011680" cy="1097280"/>
          </a:xfrm>
          <a:prstGeom prst="roundRect">
            <a:avLst>
              <a:gd name="adj" fmla="val 7500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94560"/>
            <a:ext cx="1554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9D8A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Modelo ML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633472"/>
            <a:ext cx="1600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nivel esperado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2450592"/>
            <a:ext cx="256032" cy="228600"/>
          </a:xfrm>
          <a:prstGeom prst="chevron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2011680"/>
            <a:ext cx="2240280" cy="1097280"/>
          </a:xfrm>
          <a:prstGeom prst="roundRect">
            <a:avLst>
              <a:gd name="adj" fmla="val 7500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272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64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Alerta útil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06840" y="2633472"/>
            <a:ext cx="1783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divergencia sostenida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99669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 sustituye al operador. Le da una referencia adicional para decidir con más contexto.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04. QUÉ VENDE LA HERRAMIENTA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 se vende “un modelo”. Se vende una forma de reducir incertidumbre en sensores críticos.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2240280" cy="960120"/>
          </a:xfrm>
          <a:prstGeom prst="roundRect">
            <a:avLst>
              <a:gd name="adj" fmla="val 8571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93392"/>
            <a:ext cx="202082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86968" y="2441448"/>
            <a:ext cx="20208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señal clara de confianza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874520"/>
            <a:ext cx="2240280" cy="960120"/>
          </a:xfrm>
          <a:prstGeom prst="roundRect">
            <a:avLst>
              <a:gd name="adj" fmla="val 8571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993392"/>
            <a:ext cx="202082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 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84448" y="2441448"/>
            <a:ext cx="20208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lectura histórica reproducible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2240280" cy="960120"/>
          </a:xfrm>
          <a:prstGeom prst="roundRect">
            <a:avLst>
              <a:gd name="adj" fmla="val 8571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993392"/>
            <a:ext cx="202082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RF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281928" y="2441448"/>
            <a:ext cx="20208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modelo actual del prototipo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1874520"/>
            <a:ext cx="2240280" cy="960120"/>
          </a:xfrm>
          <a:prstGeom prst="roundRect">
            <a:avLst>
              <a:gd name="adj" fmla="val 8571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9408" y="1993392"/>
            <a:ext cx="202082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3,76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979408" y="2441448"/>
            <a:ext cx="20208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MAE validación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1560" y="3703320"/>
            <a:ext cx="10012680" cy="1675504"/>
          </a:xfrm>
          <a:prstGeom prst="roundRect">
            <a:avLst>
              <a:gd name="adj" fmla="val 6667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886200"/>
            <a:ext cx="30175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Valor para dirección de planta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617720"/>
            <a:ext cx="900684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Convertir señales dispersas en una lectura operativa: “el sensor real sigue siendo creíble” o “hay que revisar”.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05. USUARIOS: QUIÉN LA USARÍA Y PARA QUÉ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app está pensada para gente que necesita decidir rápido, no para revisar notebooks.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4709160" cy="1143000"/>
          </a:xfrm>
          <a:prstGeom prst="roundRect">
            <a:avLst>
              <a:gd name="adj" fmla="val 7200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3911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Director de planta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51560" y="2487168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 riesgo operativo y priorizar acciones.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4709160" cy="1143000"/>
          </a:xfrm>
          <a:prstGeom prst="roundRect">
            <a:avLst>
              <a:gd name="adj" fmla="val 7200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3911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Jefe de turno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487168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Detectar si una señal deja de ser coherente.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4709160" cy="1143000"/>
          </a:xfrm>
          <a:prstGeom prst="roundRect">
            <a:avLst>
              <a:gd name="adj" fmla="val 7200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Mantenimiento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51560" y="4178808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Planificar revisión antes de intervenir tarde.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4709160" cy="1143000"/>
          </a:xfrm>
          <a:prstGeom prst="roundRect">
            <a:avLst>
              <a:gd name="adj" fmla="val 7200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Ingeniería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46520" y="4178808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Escalar la lógica a otros sensores críticos.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Mensaje clave: misma lógica, distintos perfiles de decisión.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06. CÓMO FUNCIONA EN LA PANTALLA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demo convierte el modelo en una lectura simple: señal real, señal virtual, diferencia y alerta.</a:t>
            </a:r>
            <a:endParaRPr lang="en-US" sz="2000" dirty="0"/>
          </a:p>
        </p:txBody>
      </p:sp>
      <p:pic>
        <p:nvPicPr>
          <p:cNvPr id="7" name="Image 0" descr="/mnt/data/business_assets/chart_real_vs_virtu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30120"/>
            <a:ext cx="5806440" cy="162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03720" y="1828800"/>
            <a:ext cx="3886200" cy="566928"/>
          </a:xfrm>
          <a:prstGeom prst="roundRect">
            <a:avLst>
              <a:gd name="adj" fmla="val 14516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77456" y="193852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52360" y="1938528"/>
            <a:ext cx="2834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Elegir escenario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903720" y="2633472"/>
            <a:ext cx="3886200" cy="566928"/>
          </a:xfrm>
          <a:prstGeom prst="roundRect">
            <a:avLst>
              <a:gd name="adj" fmla="val 14516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77456" y="2743200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52360" y="2743200"/>
            <a:ext cx="2834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 real vs virtual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903720" y="3438144"/>
            <a:ext cx="3886200" cy="566928"/>
          </a:xfrm>
          <a:prstGeom prst="roundRect">
            <a:avLst>
              <a:gd name="adj" fmla="val 14516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77456" y="3547872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452360" y="3547872"/>
            <a:ext cx="2834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Ajustar umbral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903720" y="4242816"/>
            <a:ext cx="3886200" cy="566928"/>
          </a:xfrm>
          <a:prstGeom prst="roundRect">
            <a:avLst>
              <a:gd name="adj" fmla="val 14516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77456" y="4352544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52360" y="4352544"/>
            <a:ext cx="2834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Observar alerta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143000" y="5440680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usuario final no ve las 222 variables. Ve una decisión: confianza o revisión.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07. EVIDENCIA DEL PROTOTIPO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herramienta no es una maqueta vacía. Usa los datos, el modelo y la lógica de alerta del proyecto.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2194560" cy="960120"/>
          </a:xfrm>
          <a:prstGeom prst="roundRect">
            <a:avLst>
              <a:gd name="adj" fmla="val 8571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93392"/>
            <a:ext cx="197510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7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78408" y="2441448"/>
            <a:ext cx="19751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CSV reales integrados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1874520"/>
            <a:ext cx="2194560" cy="960120"/>
          </a:xfrm>
          <a:prstGeom prst="roundRect">
            <a:avLst>
              <a:gd name="adj" fmla="val 8571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993392"/>
            <a:ext cx="197510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222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630168" y="2441448"/>
            <a:ext cx="19751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variables predictoras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2194560" cy="960120"/>
          </a:xfrm>
          <a:prstGeom prst="roundRect">
            <a:avLst>
              <a:gd name="adj" fmla="val 8571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993392"/>
            <a:ext cx="197510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3,76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281928" y="2441448"/>
            <a:ext cx="19751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MAE en validación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23960" y="1874520"/>
            <a:ext cx="2194560" cy="960120"/>
          </a:xfrm>
          <a:prstGeom prst="roundRect">
            <a:avLst>
              <a:gd name="adj" fmla="val 8571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33688" y="1993392"/>
            <a:ext cx="197510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 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933688" y="2441448"/>
            <a:ext cx="19751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simulación histórica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43000" y="3749040"/>
            <a:ext cx="9921240" cy="1261872"/>
          </a:xfrm>
          <a:prstGeom prst="roundRect">
            <a:avLst>
              <a:gd name="adj" fmla="val 6522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Lectura honesta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4425696"/>
            <a:ext cx="8778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Es un prototipo funcional y reproducible. Todavía no es un sistema industrial certificado ni conectado a PLC/SCADA.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08. CASO PRÁCTICO: CUANDO LAS SEÑALES SE SEPARAN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app permite observar cuándo el sensor real se aleja del nivel esperado por el sensor virtual.</a:t>
            </a:r>
            <a:endParaRPr lang="en-US" sz="2000" dirty="0"/>
          </a:p>
        </p:txBody>
      </p:sp>
      <p:pic>
        <p:nvPicPr>
          <p:cNvPr id="7" name="Image 0" descr="/mnt/data/business_assets/chart_divergenc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87087"/>
            <a:ext cx="6492240" cy="19351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187452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54112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Qué debe mirar dirección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54112" y="2606040"/>
            <a:ext cx="27432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Separación entre líneas.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Persistencia en el tiempo.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Impacto sobre decisiones.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Necesidad de revisión.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5166360"/>
            <a:ext cx="10241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Este tramo no es un fallo formalmente etiquetado. Sirve para demostrar la lógica de divergencia.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09. IMPACTO DE NEGOCIO: DÓNDE SE GANA VALOR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retorno no se promete con una cifra inventada. Se mide contra eventos reales: paradas, reproceso, calidad e intervenciones.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4663440" cy="914400"/>
          </a:xfrm>
          <a:prstGeom prst="roundRect">
            <a:avLst>
              <a:gd name="adj" fmla="val 9000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30552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Menos incertidumbre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Mejor lectura del estado real del proceso.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4663440" cy="914400"/>
          </a:xfrm>
          <a:prstGeom prst="roundRect">
            <a:avLst>
              <a:gd name="adj" fmla="val 9000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30552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9D8A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Mejor prioridad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514600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Mantenimiento actúa con una señal objetiva.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4663440" cy="1152144"/>
          </a:xfrm>
          <a:prstGeom prst="roundRect">
            <a:avLst>
              <a:gd name="adj" fmla="val 9000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47872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Menor reacción tardía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931920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alerta sostenida evita depender de una desviación puntual.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72200" y="3383280"/>
            <a:ext cx="4663440" cy="1152144"/>
          </a:xfrm>
          <a:prstGeom prst="roundRect">
            <a:avLst>
              <a:gd name="adj" fmla="val 9000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547872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18C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Escalabilidad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931920"/>
            <a:ext cx="4023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misma arquitectura puede aplicarse a otros sensores.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" y="5349240"/>
            <a:ext cx="10149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ROI práctico = coste de incidencias evitadas − coste de mantener el sistema.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 ESCALABILIDAD: DE UN SENSOR A UNA FAMILIA DE ALERTAS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valor comercial crece cuando la lógica se reutiliza en sensores críticos de planta.</a:t>
            </a:r>
            <a:endParaRPr lang="en-US" sz="2000" dirty="0"/>
          </a:p>
        </p:txBody>
      </p:sp>
      <p:pic>
        <p:nvPicPr>
          <p:cNvPr id="7" name="Image 0" descr="/mnt/data/latest_project/ML-Sensor-Virtual-Inteligente/img/esqu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" y="1664208"/>
            <a:ext cx="426720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783080"/>
            <a:ext cx="4663440" cy="2971800"/>
          </a:xfrm>
          <a:prstGeom prst="roundRect">
            <a:avLst>
              <a:gd name="adj" fmla="val 2769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29968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Siguientes candidatos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400800" y="2606040"/>
            <a:ext cx="34747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Presiones críticas.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Caudales de alimentación.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Vacío de proceso.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Temperaturas de intercambio.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Densidad o calidad indirecta.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5321808"/>
            <a:ext cx="9784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 es una app aislada: es una arquitectura replicable.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83464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11. IMPLANTACIÓN REAL: QUÉ FALTARÍA PARA PRODUCCIÓN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Para pasar de demo a planta real, el proyecto necesita validación operativa y conexión con el proceso.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2331720" cy="2057400"/>
          </a:xfrm>
          <a:prstGeom prst="roundRect">
            <a:avLst>
              <a:gd name="adj" fmla="val 4000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99032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Más histórico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campañas reales y eventos etiquetados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520440" y="2011680"/>
            <a:ext cx="2331720" cy="2057400"/>
          </a:xfrm>
          <a:prstGeom prst="roundRect">
            <a:avLst>
              <a:gd name="adj" fmla="val 4000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42232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Validación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4904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contraste con operación y mantenimiento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63640" y="2011680"/>
            <a:ext cx="2331720" cy="2057400"/>
          </a:xfrm>
          <a:prstGeom prst="roundRect">
            <a:avLst>
              <a:gd name="adj" fmla="val 4000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85432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Integración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SCADA / historian / dashboard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006840" y="2011680"/>
            <a:ext cx="2331720" cy="2057400"/>
          </a:xfrm>
          <a:prstGeom prst="roundRect">
            <a:avLst>
              <a:gd name="adj" fmla="val 4000"/>
            </a:avLst>
          </a:prstGeom>
          <a:solidFill>
            <a:srgbClr val="102A44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28632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Gobierno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23544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B8C7D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revisión periódica del modelo y alarmas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60120" y="516636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Riesgo controlado: empezar como herramienta de apoyo, no como automatismo de control.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58952"/>
            <a:ext cx="1147572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508760"/>
            <a:ext cx="104241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EF2F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Ahora veremos cómo funciona la herramienta en un caso real.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25880" y="3063240"/>
            <a:ext cx="9509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9C5F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Abrimos Streamlit y observamos la comparación entre sensor real, sensor virtual, residual y alerta sostenida.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834640" y="4572000"/>
            <a:ext cx="6537960" cy="777240"/>
          </a:xfrm>
          <a:prstGeom prst="roundRect">
            <a:avLst>
              <a:gd name="adj" fmla="val 10588"/>
            </a:avLst>
          </a:prstGeom>
          <a:solidFill>
            <a:srgbClr val="143452"/>
          </a:solidFill>
          <a:ln w="12700">
            <a:solidFill>
              <a:srgbClr val="2B5B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63240" y="4828032"/>
            <a:ext cx="6080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Demo · Sensor Virtual LT411 para dirección de planta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9184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91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NEGOCIO · SENSOR VIRTUAL LT411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30000" y="6291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E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 Condens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983</Words>
  <Application>Microsoft Office PowerPoint</Application>
  <PresentationFormat>Panorámica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Montserrat</vt:lpstr>
      <vt:lpstr>Roboto Condensed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Presentación negocio Soft Sensor LT411</dc:subject>
  <dc:creator>OpenAI</dc:creator>
  <cp:lastModifiedBy>Juan J Garcia G</cp:lastModifiedBy>
  <cp:revision>2</cp:revision>
  <dcterms:created xsi:type="dcterms:W3CDTF">2026-06-14T10:17:19Z</dcterms:created>
  <dcterms:modified xsi:type="dcterms:W3CDTF">2026-06-14T10:21:12Z</dcterms:modified>
</cp:coreProperties>
</file>