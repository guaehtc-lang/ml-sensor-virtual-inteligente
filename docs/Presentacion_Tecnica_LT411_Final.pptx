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5055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extract/ppt/media/image1.png"/>
          <p:cNvPicPr>
            <a:picLocks noChangeAspect="1"/>
          </p:cNvPicPr>
          <p:nvPr/>
        </p:nvPicPr>
        <p:blipFill>
          <a:blip r:embed="rId3"/>
          <a:srcRect l="2000" r="23333"/>
          <a:stretch/>
        </p:blipFill>
        <p:spPr>
          <a:xfrm>
            <a:off x="0" y="0"/>
            <a:ext cx="512064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75504" y="0"/>
            <a:ext cx="7013448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0" y="1143000"/>
            <a:ext cx="617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 Sensor LT411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513832" y="190195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77B4"/>
                </a:solidFill>
              </a:rPr>
              <a:t>Del sensor físico al sensor virtual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5532120" y="2450592"/>
            <a:ext cx="4023360" cy="0"/>
          </a:xfrm>
          <a:prstGeom prst="line">
            <a:avLst/>
          </a:prstGeom>
          <a:noFill/>
          <a:ln w="27940">
            <a:solidFill>
              <a:srgbClr val="28A6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32120" y="278892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Proyecto de Machine Learning industrial para estimar el nivel esperado de VB-01 y detectar desviaciones sostenidas del sensor LT411.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532120" y="4041648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AF5FF"/>
          </a:solidFill>
          <a:ln w="8890">
            <a:solidFill>
              <a:srgbClr val="1F77B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05272" y="4110228"/>
            <a:ext cx="14996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77B4"/>
                </a:solidFill>
              </a:rPr>
              <a:t>Regresión temporal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60920" y="4041648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EAF8F1"/>
          </a:solidFill>
          <a:ln w="8890">
            <a:solidFill>
              <a:srgbClr val="2FA46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34072" y="4110228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FA46C"/>
                </a:solidFill>
              </a:rPr>
              <a:t>Modelo A limpio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9189720" y="4041648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FF1E3"/>
          </a:solidFill>
          <a:ln w="8890">
            <a:solidFill>
              <a:srgbClr val="F28E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262872" y="4110228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28E2B"/>
                </a:solidFill>
              </a:rPr>
              <a:t>Demo Streamlit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532120" y="61722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5758B"/>
                </a:solidFill>
              </a:rPr>
              <a:t>PROYECTO ML · SOFT SENSOR LT411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PROBLEMA Y OBJETIVO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Cuando el sensor ya no explica la planta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941832"/>
            <a:ext cx="822960" cy="54864"/>
          </a:xfrm>
          <a:prstGeom prst="rect">
            <a:avLst/>
          </a:prstGeom>
          <a:solidFill>
            <a:srgbClr val="28A6E0"/>
          </a:solidFill>
          <a:ln w="12700">
            <a:solidFill>
              <a:srgbClr val="28A6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2881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ML · SOFT SENSOR LT411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064240" y="65105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1207008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LT411 mide el nivel de VB-01. Si se ensucia, la señal puede dejar de representar el nivel real y el control puede actuar sobre una información equivocada.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" y="2057400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FDECEC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185416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4B4B"/>
                </a:solidFill>
              </a:rPr>
              <a:t>Riesgo operativo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04672" y="2514600"/>
            <a:ext cx="267919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Lectura falsa, deriva o bloqueo del sensor.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El lazo de nivel puede reaccionar a una señal incorrecta.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22192" y="2057400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EAF8F1"/>
          </a:solidFill>
          <a:ln w="12700">
            <a:solidFill>
              <a:srgbClr val="2FA4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68496" y="2185416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A46C"/>
                </a:solidFill>
              </a:rPr>
              <a:t>Objetivo ML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968496" y="2514600"/>
            <a:ext cx="267919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Estimar el nivel físico esperado de VB-01 usando variables de proceso menos contaminadas.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86016" y="2057400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EAF5FF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2185416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7B4"/>
                </a:solidFill>
              </a:rPr>
              <a:t>Salida práctica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132320" y="2514600"/>
            <a:ext cx="277063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Comparar LT411 real vs sensor virtual y activar alerta si la desviación persiste.</a:t>
            </a:r>
            <a:endParaRPr lang="en-US" sz="950" dirty="0"/>
          </a:p>
        </p:txBody>
      </p:sp>
      <p:pic>
        <p:nvPicPr>
          <p:cNvPr id="18" name="Image 0" descr="/mnt/data/pptx_extract/ppt/media/image2.png"/>
          <p:cNvPicPr>
            <a:picLocks noChangeAspect="1"/>
          </p:cNvPicPr>
          <p:nvPr/>
        </p:nvPicPr>
        <p:blipFill>
          <a:blip r:embed="rId3"/>
          <a:srcRect t="8000" r="-13786" b="29000"/>
          <a:stretch/>
        </p:blipFill>
        <p:spPr>
          <a:xfrm>
            <a:off x="5852160" y="3529584"/>
            <a:ext cx="5394960" cy="22402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85800" y="38039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</a:rPr>
              <a:t>Clave de lectura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749808" y="4160520"/>
            <a:ext cx="438912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00" dirty="0">
                <a:solidFill>
                  <a:srgbClr val="111827"/>
                </a:solidFill>
              </a:rPr>
              <a:t>No queremos copiar LT411.</a:t>
            </a:r>
            <a:endParaRPr lang="en-US" sz="1300" dirty="0"/>
          </a:p>
          <a:p>
            <a:r>
              <a:rPr lang="en-US" sz="1300" dirty="0">
                <a:solidFill>
                  <a:srgbClr val="111827"/>
                </a:solidFill>
              </a:rPr>
              <a:t>Queremos estimar lo que debería medir.</a:t>
            </a:r>
            <a:endParaRPr lang="en-US" sz="1300" dirty="0"/>
          </a:p>
          <a:p>
            <a:r>
              <a:rPr lang="en-US" sz="1300" dirty="0">
                <a:solidFill>
                  <a:srgbClr val="111827"/>
                </a:solidFill>
              </a:rPr>
              <a:t>El residual convierte el modelo en una herramienta de diagnóstico.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DATOS Y PREPARACIÓN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</a:t>
            </a:r>
            <a:r>
              <a:rPr lang="en-US" sz="25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señales</a:t>
            </a: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PLC/SCADA a un dataset modelable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941832"/>
            <a:ext cx="822960" cy="54864"/>
          </a:xfrm>
          <a:prstGeom prst="rect">
            <a:avLst/>
          </a:prstGeom>
          <a:solidFill>
            <a:srgbClr val="28A6E0"/>
          </a:solidFill>
          <a:ln w="12700">
            <a:solidFill>
              <a:srgbClr val="28A6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2881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ML · SOFT SENSOR LT411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064240" y="65105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12344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F77B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58368" y="1645920"/>
            <a:ext cx="15087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5758B"/>
                </a:solidFill>
              </a:rPr>
              <a:t>CSV válidos definitivos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331720" y="12344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230.700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2331720" y="1645920"/>
            <a:ext cx="20116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5758B"/>
                </a:solidFill>
              </a:rPr>
              <a:t>registros por CSV principal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645152" y="12344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FA4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s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4645152" y="1645920"/>
            <a:ext cx="15087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5758B"/>
                </a:solidFill>
              </a:rPr>
              <a:t>frecuencia original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19088" y="12344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28E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 s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6419088" y="1645920"/>
            <a:ext cx="15087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5758B"/>
                </a:solidFill>
              </a:rPr>
              <a:t>dataset modelable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275320" y="1234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D94B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~2,7 días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8275320" y="1645920"/>
            <a:ext cx="1828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5758B"/>
                </a:solidFill>
              </a:rPr>
              <a:t>histórico disponible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49808" y="2971800"/>
            <a:ext cx="1667866" cy="676656"/>
          </a:xfrm>
          <a:prstGeom prst="roundRect">
            <a:avLst>
              <a:gd name="adj" fmla="val 10811"/>
            </a:avLst>
          </a:prstGeom>
          <a:solidFill>
            <a:srgbClr val="F8FAFC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3063240"/>
            <a:ext cx="15764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CSV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95528" y="3319272"/>
            <a:ext cx="15764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5758B"/>
                </a:solidFill>
              </a:rPr>
              <a:t>señales origen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527402" y="2971800"/>
            <a:ext cx="1667866" cy="676656"/>
          </a:xfrm>
          <a:prstGeom prst="roundRect">
            <a:avLst>
              <a:gd name="adj" fmla="val 10811"/>
            </a:avLst>
          </a:prstGeom>
          <a:solidFill>
            <a:srgbClr val="EAF5FF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73122" y="3063240"/>
            <a:ext cx="15764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Time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73122" y="3319272"/>
            <a:ext cx="15764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5758B"/>
                </a:solidFill>
              </a:rPr>
              <a:t>índice común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4304995" y="2971800"/>
            <a:ext cx="1667866" cy="676656"/>
          </a:xfrm>
          <a:prstGeom prst="roundRect">
            <a:avLst>
              <a:gd name="adj" fmla="val 10811"/>
            </a:avLst>
          </a:prstGeom>
          <a:solidFill>
            <a:srgbClr val="EAF8F1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50715" y="3063240"/>
            <a:ext cx="15764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Unión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50715" y="3319272"/>
            <a:ext cx="15764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5758B"/>
                </a:solidFill>
              </a:rPr>
              <a:t>inner join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6082589" y="2971800"/>
            <a:ext cx="1667866" cy="676656"/>
          </a:xfrm>
          <a:prstGeom prst="roundRect">
            <a:avLst>
              <a:gd name="adj" fmla="val 10811"/>
            </a:avLst>
          </a:prstGeom>
          <a:solidFill>
            <a:srgbClr val="FFF6DD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8309" y="3063240"/>
            <a:ext cx="15764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10 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28309" y="3319272"/>
            <a:ext cx="15764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5758B"/>
                </a:solidFill>
              </a:rPr>
              <a:t>media temporal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7860182" y="2971800"/>
            <a:ext cx="1667866" cy="676656"/>
          </a:xfrm>
          <a:prstGeom prst="roundRect">
            <a:avLst>
              <a:gd name="adj" fmla="val 10811"/>
            </a:avLst>
          </a:prstGeom>
          <a:solidFill>
            <a:srgbClr val="F4ECFF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05902" y="3063240"/>
            <a:ext cx="15764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Features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905902" y="3319272"/>
            <a:ext cx="15764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5758B"/>
                </a:solidFill>
              </a:rPr>
              <a:t>dataset ML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749808" y="4069080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FDECEC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112" y="4197096"/>
            <a:ext cx="336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4B4B"/>
                </a:solidFill>
              </a:rPr>
              <a:t>Archivo excluido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96112" y="4526280"/>
            <a:ext cx="336499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TT_413.csv se conserva por trazabilidad, pero queda fuera del flujo principal por desalineación temporal y redundancia.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09160" y="406908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6DD"/>
          </a:solidFill>
          <a:ln w="12700">
            <a:solidFill>
              <a:srgbClr val="E3B3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55464" y="4197096"/>
            <a:ext cx="3730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3B31A"/>
                </a:solidFill>
              </a:rPr>
              <a:t>Limitación de partida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855464" y="4526280"/>
            <a:ext cx="373075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El histórico es corto. El proyecto se defiende como prototipo reproducible, no como sistema validado para producción.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49808" y="548640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5758B"/>
                </a:solidFill>
              </a:rPr>
              <a:t>Resultado de preparación: dataset_unificado_1s.csv + dataset_modelable_10s.csv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DISEÑO EXPERIMENTAL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Split temporal y Modelo A limpio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941832"/>
            <a:ext cx="822960" cy="54864"/>
          </a:xfrm>
          <a:prstGeom prst="rect">
            <a:avLst/>
          </a:prstGeom>
          <a:solidFill>
            <a:srgbClr val="28A6E0"/>
          </a:solidFill>
          <a:ln w="12700">
            <a:solidFill>
              <a:srgbClr val="28A6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2881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ML · SOFT SENSOR LT411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064240" y="65105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pic>
        <p:nvPicPr>
          <p:cNvPr id="8" name="Image 0" descr="/mnt/data/pptx_extract/ppt/media/image4.png"/>
          <p:cNvPicPr>
            <a:picLocks noChangeAspect="1"/>
          </p:cNvPicPr>
          <p:nvPr/>
        </p:nvPicPr>
        <p:blipFill>
          <a:blip r:embed="rId3"/>
          <a:srcRect t="3000" r="25979" b="7000"/>
          <a:stretch/>
        </p:blipFill>
        <p:spPr>
          <a:xfrm>
            <a:off x="502920" y="1097280"/>
            <a:ext cx="7132320" cy="295351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936992" y="1234440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EAF5FF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83296" y="1362456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7B4"/>
                </a:solidFill>
              </a:rPr>
              <a:t>Split temporal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083296" y="1691640"/>
            <a:ext cx="295351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Día 1: entrenamiento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Día 2: validación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Día 3: test / comportamiento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936992" y="278892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6DD"/>
          </a:solidFill>
          <a:ln w="12700">
            <a:solidFill>
              <a:srgbClr val="E3B3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83296" y="2916936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3B31A"/>
                </a:solidFill>
              </a:rPr>
              <a:t>Por qué no aleatorio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083296" y="3246120"/>
            <a:ext cx="295351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En una serie temporal industrial, mezclar filas puede introducir futuro en el entrenamiento y sobreestimar resultados.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85800" y="42793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</a:rPr>
              <a:t>Control anti-leakage del Modelo A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49808" y="4791456"/>
            <a:ext cx="1803654" cy="676656"/>
          </a:xfrm>
          <a:prstGeom prst="roundRect">
            <a:avLst>
              <a:gd name="adj" fmla="val 10811"/>
            </a:avLst>
          </a:prstGeom>
          <a:solidFill>
            <a:srgbClr val="FDECEC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5528" y="4882896"/>
            <a:ext cx="17122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No LV411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95528" y="5138928"/>
            <a:ext cx="17122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5758B"/>
                </a:solidFill>
              </a:rPr>
              <a:t>lazo cerrado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2663190" y="4791456"/>
            <a:ext cx="1803654" cy="676656"/>
          </a:xfrm>
          <a:prstGeom prst="roundRect">
            <a:avLst>
              <a:gd name="adj" fmla="val 10811"/>
            </a:avLst>
          </a:prstGeom>
          <a:solidFill>
            <a:srgbClr val="FDECEC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08910" y="4882896"/>
            <a:ext cx="17122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No SP_LT411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708910" y="5138928"/>
            <a:ext cx="17122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5758B"/>
                </a:solidFill>
              </a:rPr>
              <a:t>consigna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4576572" y="4791456"/>
            <a:ext cx="1803654" cy="676656"/>
          </a:xfrm>
          <a:prstGeom prst="roundRect">
            <a:avLst>
              <a:gd name="adj" fmla="val 10811"/>
            </a:avLst>
          </a:prstGeom>
          <a:solidFill>
            <a:srgbClr val="FDECEC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22292" y="4882896"/>
            <a:ext cx="17122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No LT411 lag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622292" y="5138928"/>
            <a:ext cx="17122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5758B"/>
                </a:solidFill>
              </a:rPr>
              <a:t>evitar copia</a:t>
            </a:r>
            <a:endParaRPr lang="en-US" sz="780" dirty="0"/>
          </a:p>
        </p:txBody>
      </p:sp>
      <p:sp>
        <p:nvSpPr>
          <p:cNvPr id="25" name="Shape 22"/>
          <p:cNvSpPr/>
          <p:nvPr/>
        </p:nvSpPr>
        <p:spPr>
          <a:xfrm>
            <a:off x="6489954" y="4791456"/>
            <a:ext cx="1803654" cy="676656"/>
          </a:xfrm>
          <a:prstGeom prst="roundRect">
            <a:avLst>
              <a:gd name="adj" fmla="val 10811"/>
            </a:avLst>
          </a:prstGeom>
          <a:solidFill>
            <a:srgbClr val="EAF8F1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35674" y="4882896"/>
            <a:ext cx="17122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Solo pasado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535674" y="5138928"/>
            <a:ext cx="17122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5758B"/>
                </a:solidFill>
              </a:rPr>
              <a:t>lags/rolling</a:t>
            </a:r>
            <a:endParaRPr lang="en-US" sz="780" dirty="0"/>
          </a:p>
        </p:txBody>
      </p:sp>
      <p:sp>
        <p:nvSpPr>
          <p:cNvPr id="28" name="Text 25"/>
          <p:cNvSpPr/>
          <p:nvPr/>
        </p:nvSpPr>
        <p:spPr>
          <a:xfrm>
            <a:off x="749808" y="571500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Objetivo: estimar nivel esperado, no reproducir la señal contaminada.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FEATURE ENGINEERING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Memoria temporal sin mirar al futuro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941832"/>
            <a:ext cx="822960" cy="54864"/>
          </a:xfrm>
          <a:prstGeom prst="rect">
            <a:avLst/>
          </a:prstGeom>
          <a:solidFill>
            <a:srgbClr val="28A6E0"/>
          </a:solidFill>
          <a:ln w="12700">
            <a:solidFill>
              <a:srgbClr val="28A6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2881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ML · SOFT SENSOR LT411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064240" y="65105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94944" y="11887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77B4"/>
                </a:solidFill>
              </a:rPr>
              <a:t>222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49808" y="1901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variables predictoras finales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11880" y="1298448"/>
            <a:ext cx="1289304" cy="676656"/>
          </a:xfrm>
          <a:prstGeom prst="roundRect">
            <a:avLst>
              <a:gd name="adj" fmla="val 10811"/>
            </a:avLst>
          </a:prstGeom>
          <a:solidFill>
            <a:srgbClr val="EAF5FF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389888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16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0" y="1645920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5758B"/>
                </a:solidFill>
              </a:rPr>
              <a:t>base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5010912" y="1298448"/>
            <a:ext cx="1289304" cy="676656"/>
          </a:xfrm>
          <a:prstGeom prst="roundRect">
            <a:avLst>
              <a:gd name="adj" fmla="val 10811"/>
            </a:avLst>
          </a:prstGeom>
          <a:solidFill>
            <a:srgbClr val="FFF6DD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56632" y="1389888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+96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56632" y="1645920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5758B"/>
                </a:solidFill>
              </a:rPr>
              <a:t>lags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09944" y="1298448"/>
            <a:ext cx="1289304" cy="676656"/>
          </a:xfrm>
          <a:prstGeom prst="roundRect">
            <a:avLst>
              <a:gd name="adj" fmla="val 10811"/>
            </a:avLst>
          </a:prstGeom>
          <a:solidFill>
            <a:srgbClr val="EAF8F1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5664" y="1389888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+90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55664" y="1645920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5758B"/>
                </a:solidFill>
              </a:rPr>
              <a:t>rolling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7808976" y="1298448"/>
            <a:ext cx="1289304" cy="676656"/>
          </a:xfrm>
          <a:prstGeom prst="roundRect">
            <a:avLst>
              <a:gd name="adj" fmla="val 10811"/>
            </a:avLst>
          </a:prstGeom>
          <a:solidFill>
            <a:srgbClr val="F4ECFF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54696" y="1389888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+20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854696" y="1645920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5758B"/>
                </a:solidFill>
              </a:rPr>
              <a:t>deltas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9235440" y="15361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77B4"/>
                </a:solidFill>
              </a:rPr>
              <a:t>= 222 variables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49808" y="2880360"/>
            <a:ext cx="3154680" cy="1097280"/>
          </a:xfrm>
          <a:prstGeom prst="roundRect">
            <a:avLst>
              <a:gd name="adj" fmla="val 6667"/>
            </a:avLst>
          </a:prstGeom>
          <a:solidFill>
            <a:srgbClr val="FFF6DD"/>
          </a:solidFill>
          <a:ln w="12700">
            <a:solidFill>
              <a:srgbClr val="E3B3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3008376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3B31A"/>
                </a:solidFill>
              </a:rPr>
              <a:t>Lags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96112" y="3337560"/>
            <a:ext cx="28620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1, 2, 3, 6, 12 y 18 pasos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10s, 20s, 30s, 1m, 2m y 3m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60520" y="2880360"/>
            <a:ext cx="3154680" cy="1097280"/>
          </a:xfrm>
          <a:prstGeom prst="roundRect">
            <a:avLst>
              <a:gd name="adj" fmla="val 6667"/>
            </a:avLst>
          </a:prstGeom>
          <a:solidFill>
            <a:srgbClr val="EAF8F1"/>
          </a:solidFill>
          <a:ln w="12700">
            <a:solidFill>
              <a:srgbClr val="2FA46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06824" y="3008376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A46C"/>
                </a:solidFill>
              </a:rPr>
              <a:t>Rolling trailing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306824" y="3337560"/>
            <a:ext cx="28620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Ventanas de 1, 5 y 15 minutos.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Media, desviación y rango.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571232" y="2880360"/>
            <a:ext cx="3154680" cy="1097280"/>
          </a:xfrm>
          <a:prstGeom prst="roundRect">
            <a:avLst>
              <a:gd name="adj" fmla="val 6667"/>
            </a:avLst>
          </a:prstGeom>
          <a:solidFill>
            <a:srgbClr val="F4ECFF"/>
          </a:solidFill>
          <a:ln w="12700">
            <a:solidFill>
              <a:srgbClr val="8E63C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17536" y="3008376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E63CE"/>
                </a:solidFill>
              </a:rPr>
              <a:t>Deltas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717536" y="3337560"/>
            <a:ext cx="28620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Cambios entre muestras y variables físicas derivadas: DELTA_TT y DELTA_PIT.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77240" y="44805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</a:rPr>
              <a:t>Regla metodológica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68680" y="4828032"/>
            <a:ext cx="969264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111827"/>
                </a:solidFill>
              </a:rPr>
              <a:t>Nada de medias centradas.</a:t>
            </a:r>
            <a:endParaRPr lang="en-US" sz="1200" dirty="0"/>
          </a:p>
          <a:p>
            <a:r>
              <a:rPr lang="en-US" sz="1200" dirty="0">
                <a:solidFill>
                  <a:srgbClr val="111827"/>
                </a:solidFill>
              </a:rPr>
              <a:t>Nada de backfill.</a:t>
            </a:r>
            <a:endParaRPr lang="en-US" sz="1200" dirty="0"/>
          </a:p>
          <a:p>
            <a:r>
              <a:rPr lang="en-US" sz="1200" dirty="0">
                <a:solidFill>
                  <a:srgbClr val="111827"/>
                </a:solidFill>
              </a:rPr>
              <a:t>Nada de variables futuras.</a:t>
            </a:r>
            <a:endParaRPr lang="en-US" sz="1200" dirty="0"/>
          </a:p>
          <a:p>
            <a:r>
              <a:rPr lang="en-US" sz="1200" dirty="0">
                <a:solidFill>
                  <a:srgbClr val="111827"/>
                </a:solidFill>
              </a:rPr>
              <a:t>dropna() auditado tras crear retardos.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MODELOS Y RESULTADOS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Comparar antes de elegir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941832"/>
            <a:ext cx="822960" cy="54864"/>
          </a:xfrm>
          <a:prstGeom prst="rect">
            <a:avLst/>
          </a:prstGeom>
          <a:solidFill>
            <a:srgbClr val="28A6E0"/>
          </a:solidFill>
          <a:ln w="12700">
            <a:solidFill>
              <a:srgbClr val="28A6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2881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ML · SOFT SENSOR LT411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064240" y="65105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3232" y="1170432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Se probaron cinco modelos supervisados y se optimizaron los tres candidatos con mejor comportamiento temporal.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9808" y="1737360"/>
            <a:ext cx="1814170" cy="676656"/>
          </a:xfrm>
          <a:prstGeom prst="roundRect">
            <a:avLst>
              <a:gd name="adj" fmla="val 10811"/>
            </a:avLst>
          </a:prstGeom>
          <a:solidFill>
            <a:srgbClr val="F8FAFC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28800"/>
            <a:ext cx="1722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Linear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95528" y="2084832"/>
            <a:ext cx="1722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5758B"/>
                </a:solidFill>
              </a:rPr>
              <a:t>baseline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2673706" y="1737360"/>
            <a:ext cx="1814170" cy="676656"/>
          </a:xfrm>
          <a:prstGeom prst="roundRect">
            <a:avLst>
              <a:gd name="adj" fmla="val 10811"/>
            </a:avLst>
          </a:prstGeom>
          <a:solidFill>
            <a:srgbClr val="F8FAFC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19426" y="1828800"/>
            <a:ext cx="1722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Ridge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19426" y="2084832"/>
            <a:ext cx="1722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5758B"/>
                </a:solidFill>
              </a:rPr>
              <a:t>regularizado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4597603" y="1737360"/>
            <a:ext cx="1814170" cy="676656"/>
          </a:xfrm>
          <a:prstGeom prst="roundRect">
            <a:avLst>
              <a:gd name="adj" fmla="val 10811"/>
            </a:avLst>
          </a:prstGeom>
          <a:solidFill>
            <a:srgbClr val="EAF8F1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3323" y="1828800"/>
            <a:ext cx="1722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Random Forest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43323" y="2084832"/>
            <a:ext cx="1722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5758B"/>
                </a:solidFill>
              </a:rPr>
              <a:t>final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21501" y="1737360"/>
            <a:ext cx="1814170" cy="676656"/>
          </a:xfrm>
          <a:prstGeom prst="roundRect">
            <a:avLst>
              <a:gd name="adj" fmla="val 10811"/>
            </a:avLst>
          </a:prstGeom>
          <a:solidFill>
            <a:srgbClr val="FFF6DD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67221" y="1828800"/>
            <a:ext cx="1722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Gradient Boosting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67221" y="2084832"/>
            <a:ext cx="1722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5758B"/>
                </a:solidFill>
              </a:rPr>
              <a:t>comparado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8445398" y="1737360"/>
            <a:ext cx="1814170" cy="676656"/>
          </a:xfrm>
          <a:prstGeom prst="roundRect">
            <a:avLst>
              <a:gd name="adj" fmla="val 10811"/>
            </a:avLst>
          </a:prstGeom>
          <a:solidFill>
            <a:srgbClr val="F4ECFF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91118" y="1828800"/>
            <a:ext cx="1722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SVR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91118" y="2084832"/>
            <a:ext cx="1722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5758B"/>
                </a:solidFill>
              </a:rPr>
              <a:t>comparado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749808" y="2880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MAE de validación tras optimización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" y="345643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Random Forest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70632" y="3493008"/>
            <a:ext cx="2401645" cy="155448"/>
          </a:xfrm>
          <a:prstGeom prst="rect">
            <a:avLst/>
          </a:prstGeom>
          <a:solidFill>
            <a:srgbClr val="2FA46C"/>
          </a:solidFill>
          <a:ln w="12700">
            <a:solidFill>
              <a:srgbClr val="2FA46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13832" y="345186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FA46C"/>
                </a:solidFill>
              </a:rPr>
              <a:t>3.76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04672" y="386791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SVR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70632" y="3904488"/>
            <a:ext cx="2580491" cy="155448"/>
          </a:xfrm>
          <a:prstGeom prst="rect">
            <a:avLst/>
          </a:prstGeom>
          <a:solidFill>
            <a:srgbClr val="8E63CE"/>
          </a:solidFill>
          <a:ln w="12700">
            <a:solidFill>
              <a:srgbClr val="8E63C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386334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E63CE"/>
                </a:solidFill>
              </a:rPr>
              <a:t>4.04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04672" y="427939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Gradient Boosting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70632" y="4315968"/>
            <a:ext cx="2606040" cy="155448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13832" y="42748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28E2B"/>
                </a:solidFill>
              </a:rPr>
              <a:t>4.08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858000" y="297180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EAF8F1"/>
          </a:solidFill>
          <a:ln w="12700">
            <a:solidFill>
              <a:srgbClr val="2FA46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04304" y="3099816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A46C"/>
                </a:solidFill>
              </a:rPr>
              <a:t>Modelo final actual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004304" y="3429000"/>
            <a:ext cx="30906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RandomForestRegressor optimizado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MAE validación: 3,76 puntos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RMSE validación: 5,52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R² validación: 0,205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22960" y="525780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</a:rPr>
              <a:t>Lectura: el RF queda como versión final actual por menor MAE y estabilidad. Más optimización y deep learning no mejoraron el resultado; apareció sobreajuste.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VALIDACIÓN TÉCNICA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</a:t>
            </a:r>
            <a:r>
              <a:rPr lang="en-US" sz="25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941832"/>
            <a:ext cx="822960" cy="54864"/>
          </a:xfrm>
          <a:prstGeom prst="rect">
            <a:avLst/>
          </a:prstGeom>
          <a:solidFill>
            <a:srgbClr val="28A6E0"/>
          </a:solidFill>
          <a:ln w="12700">
            <a:solidFill>
              <a:srgbClr val="28A6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2881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ML · SOFT SENSOR LT411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064240" y="65105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pic>
        <p:nvPicPr>
          <p:cNvPr id="8" name="Image 0" descr="/mnt/data/pptx_extract/ppt/media/image5.png"/>
          <p:cNvPicPr>
            <a:picLocks noChangeAspect="1"/>
          </p:cNvPicPr>
          <p:nvPr/>
        </p:nvPicPr>
        <p:blipFill>
          <a:blip r:embed="rId3"/>
          <a:srcRect r="19638"/>
          <a:stretch/>
        </p:blipFill>
        <p:spPr>
          <a:xfrm>
            <a:off x="658368" y="1115568"/>
            <a:ext cx="6400800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60920" y="1234440"/>
            <a:ext cx="3337560" cy="1005840"/>
          </a:xfrm>
          <a:prstGeom prst="roundRect">
            <a:avLst>
              <a:gd name="adj" fmla="val 7273"/>
            </a:avLst>
          </a:prstGeom>
          <a:solidFill>
            <a:srgbClr val="EAF5FF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07224" y="1362456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7B4"/>
                </a:solidFill>
              </a:rPr>
              <a:t>Qué muestra la validación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507224" y="1691640"/>
            <a:ext cx="304495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El modelo sigue parte de la dinámica, pero suaviza picos y sufre cuando cambia el régimen operativo.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360920" y="2487168"/>
            <a:ext cx="3337560" cy="1005840"/>
          </a:xfrm>
          <a:prstGeom prst="roundRect">
            <a:avLst>
              <a:gd name="adj" fmla="val 7273"/>
            </a:avLst>
          </a:prstGeom>
          <a:solidFill>
            <a:srgbClr val="FFF6DD"/>
          </a:solidFill>
          <a:ln w="12700">
            <a:solidFill>
              <a:srgbClr val="E3B3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07224" y="2615184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3B31A"/>
                </a:solidFill>
              </a:rPr>
              <a:t>Gap conocido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507224" y="2944368"/>
            <a:ext cx="304495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MAE train-validación ≈ 2,97 puntos.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No se oculta: indica margen de mejora y cambio de régimen.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360920" y="3730752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EAF8F1"/>
          </a:solidFill>
          <a:ln w="12700">
            <a:solidFill>
              <a:srgbClr val="2FA46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07224" y="385876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A46C"/>
                </a:solidFill>
              </a:rPr>
              <a:t>Variables influyentes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507224" y="4187952"/>
            <a:ext cx="304495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DELTA_PIT_delta_6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PIT414_delta_6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DELTA_PIT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INT_P101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77240" y="544068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La métrica global no basta: se revisa señal temporal, residual, estabilidad y riesgo de leakage.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· SALIDA OPERATIVA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modelo al diagnóstico visual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941832"/>
            <a:ext cx="822960" cy="54864"/>
          </a:xfrm>
          <a:prstGeom prst="rect">
            <a:avLst/>
          </a:prstGeom>
          <a:solidFill>
            <a:srgbClr val="28A6E0"/>
          </a:solidFill>
          <a:ln w="12700">
            <a:solidFill>
              <a:srgbClr val="28A6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2881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ML · SOFT SENSOR LT411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064240" y="65105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3232" y="1152144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El modelo se convierte en una herramienta: no solo predice, sino que compara y avisa cuando la diferencia se mantiene.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9808" y="1828800"/>
            <a:ext cx="1887322" cy="676656"/>
          </a:xfrm>
          <a:prstGeom prst="roundRect">
            <a:avLst>
              <a:gd name="adj" fmla="val 10811"/>
            </a:avLst>
          </a:prstGeom>
          <a:solidFill>
            <a:srgbClr val="EAF5FF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20240"/>
            <a:ext cx="17958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LT411 real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95528" y="2176272"/>
            <a:ext cx="17958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5758B"/>
                </a:solidFill>
              </a:rPr>
              <a:t>sensor físico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2746858" y="1828800"/>
            <a:ext cx="1887322" cy="676656"/>
          </a:xfrm>
          <a:prstGeom prst="roundRect">
            <a:avLst>
              <a:gd name="adj" fmla="val 10811"/>
            </a:avLst>
          </a:prstGeom>
          <a:solidFill>
            <a:srgbClr val="EAF8F1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92578" y="1920240"/>
            <a:ext cx="17958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LT411 virtual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92578" y="2176272"/>
            <a:ext cx="17958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5758B"/>
                </a:solidFill>
              </a:rPr>
              <a:t>modelo RF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4743907" y="1828800"/>
            <a:ext cx="1887322" cy="676656"/>
          </a:xfrm>
          <a:prstGeom prst="roundRect">
            <a:avLst>
              <a:gd name="adj" fmla="val 10811"/>
            </a:avLst>
          </a:prstGeom>
          <a:solidFill>
            <a:srgbClr val="FFF6DD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9627" y="1920240"/>
            <a:ext cx="17958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Residual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89627" y="2176272"/>
            <a:ext cx="17958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5758B"/>
                </a:solidFill>
              </a:rPr>
              <a:t>diferencia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740957" y="1828800"/>
            <a:ext cx="1887322" cy="676656"/>
          </a:xfrm>
          <a:prstGeom prst="roundRect">
            <a:avLst>
              <a:gd name="adj" fmla="val 10811"/>
            </a:avLst>
          </a:prstGeom>
          <a:solidFill>
            <a:srgbClr val="FDECEC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86677" y="1920240"/>
            <a:ext cx="17958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Umbral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86677" y="2176272"/>
            <a:ext cx="17958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5758B"/>
                </a:solidFill>
              </a:rPr>
              <a:t>error &gt; 5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8738006" y="1828800"/>
            <a:ext cx="1887322" cy="676656"/>
          </a:xfrm>
          <a:prstGeom prst="roundRect">
            <a:avLst>
              <a:gd name="adj" fmla="val 10811"/>
            </a:avLst>
          </a:prstGeom>
          <a:solidFill>
            <a:srgbClr val="F4ECFF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83726" y="1920240"/>
            <a:ext cx="17958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Persistencia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783726" y="2176272"/>
            <a:ext cx="17958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5758B"/>
                </a:solidFill>
              </a:rPr>
              <a:t>alerta sostenida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777240" y="3218688"/>
            <a:ext cx="4709160" cy="1234440"/>
          </a:xfrm>
          <a:prstGeom prst="roundRect">
            <a:avLst>
              <a:gd name="adj" fmla="val 5926"/>
            </a:avLst>
          </a:prstGeom>
          <a:solidFill>
            <a:srgbClr val="EAF5FF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3544" y="3346704"/>
            <a:ext cx="4416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7B4"/>
                </a:solidFill>
              </a:rPr>
              <a:t>Streamlit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23544" y="3675888"/>
            <a:ext cx="441655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Demo ejecutable con modo Normal y Fallo.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Muestra nivel real, nivel estimado, residual, umbral y estado del sensor.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806440" y="3218688"/>
            <a:ext cx="4709160" cy="1234440"/>
          </a:xfrm>
          <a:prstGeom prst="roundRect">
            <a:avLst>
              <a:gd name="adj" fmla="val 5926"/>
            </a:avLst>
          </a:prstGeom>
          <a:solidFill>
            <a:srgbClr val="EAF8F1"/>
          </a:solidFill>
          <a:ln w="12700">
            <a:solidFill>
              <a:srgbClr val="2FA46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52744" y="3346704"/>
            <a:ext cx="4416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A46C"/>
                </a:solidFill>
              </a:rPr>
              <a:t>Arquitectura reutilizable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952744" y="3675888"/>
            <a:ext cx="441655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El mismo flujo puede adaptarse a otros sensores cambiando target, features y modelo entrenado.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22960" y="47091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</a:rPr>
              <a:t>Fórmula de diagnóstico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3063240" y="4956048"/>
            <a:ext cx="5897880" cy="475488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46120" y="5084064"/>
            <a:ext cx="5532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error_abs = | LT411_real − LT411_predicho |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· CIERRE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Prototipo</a:t>
            </a: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5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técnico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941832"/>
            <a:ext cx="822960" cy="54864"/>
          </a:xfrm>
          <a:prstGeom prst="rect">
            <a:avLst/>
          </a:prstGeom>
          <a:solidFill>
            <a:srgbClr val="28A6E0"/>
          </a:solidFill>
          <a:ln w="12700">
            <a:solidFill>
              <a:srgbClr val="28A6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2881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ML · SOFT SENSOR LT411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064240" y="65105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261872"/>
            <a:ext cx="3657600" cy="1600200"/>
          </a:xfrm>
          <a:prstGeom prst="roundRect">
            <a:avLst>
              <a:gd name="adj" fmla="val 4571"/>
            </a:avLst>
          </a:prstGeom>
          <a:solidFill>
            <a:srgbClr val="FDECEC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3544" y="1389888"/>
            <a:ext cx="336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4B4B"/>
                </a:solidFill>
              </a:rPr>
              <a:t>Limitaciones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23544" y="1719072"/>
            <a:ext cx="3364992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Histórico corto (~2,7 días).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Sin etiqueta formal de fallo.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Test con anomalía/parada.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0" y="1261872"/>
            <a:ext cx="3657600" cy="1600200"/>
          </a:xfrm>
          <a:prstGeom prst="roundRect">
            <a:avLst>
              <a:gd name="adj" fmla="val 4571"/>
            </a:avLst>
          </a:prstGeom>
          <a:solidFill>
            <a:srgbClr val="EAF8F1"/>
          </a:solidFill>
          <a:ln w="12700">
            <a:solidFill>
              <a:srgbClr val="2FA4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64024" y="1389888"/>
            <a:ext cx="336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A46C"/>
                </a:solidFill>
              </a:rPr>
              <a:t>Resultado conseguido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64024" y="1719072"/>
            <a:ext cx="3364992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Flujo reproducible.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Modelo RF entrenado y guardado.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Dataset de presentación.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Demo Streamlit con alerta sostenida.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458200" y="1261872"/>
            <a:ext cx="3063240" cy="1600200"/>
          </a:xfrm>
          <a:prstGeom prst="roundRect">
            <a:avLst>
              <a:gd name="adj" fmla="val 4571"/>
            </a:avLst>
          </a:prstGeom>
          <a:solidFill>
            <a:srgbClr val="EAF5FF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04504" y="1389888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7B4"/>
                </a:solidFill>
              </a:rPr>
              <a:t>Siguiente paso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04504" y="1719072"/>
            <a:ext cx="2770632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Añadir más campañas.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Etiquetar eventos reales.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Reoptimizar con más datos.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Validar contra operación de planta.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14400" y="3840480"/>
            <a:ext cx="1024128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977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Idea final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377440" y="4261104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El soft sensor no sustituye la planta: ayuda a interpretar cuándo el sensor físico puede dejar de ser fiable.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508760" y="5349240"/>
            <a:ext cx="2192274" cy="676656"/>
          </a:xfrm>
          <a:prstGeom prst="roundRect">
            <a:avLst>
              <a:gd name="adj" fmla="val 10811"/>
            </a:avLst>
          </a:prstGeom>
          <a:solidFill>
            <a:srgbClr val="EAF5FF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54480" y="5440680"/>
            <a:ext cx="21008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Medir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54480" y="5696712"/>
            <a:ext cx="21008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5758B"/>
                </a:solidFill>
              </a:rPr>
              <a:t>señales planta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3810762" y="5349240"/>
            <a:ext cx="2192274" cy="676656"/>
          </a:xfrm>
          <a:prstGeom prst="roundRect">
            <a:avLst>
              <a:gd name="adj" fmla="val 10811"/>
            </a:avLst>
          </a:prstGeom>
          <a:solidFill>
            <a:srgbClr val="EAF8F1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56482" y="5440680"/>
            <a:ext cx="21008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Modelar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56482" y="5696712"/>
            <a:ext cx="21008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5758B"/>
                </a:solidFill>
              </a:rPr>
              <a:t>nivel esperado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6112764" y="5349240"/>
            <a:ext cx="2192274" cy="676656"/>
          </a:xfrm>
          <a:prstGeom prst="roundRect">
            <a:avLst>
              <a:gd name="adj" fmla="val 10811"/>
            </a:avLst>
          </a:prstGeom>
          <a:solidFill>
            <a:srgbClr val="FFF6DD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58484" y="5440680"/>
            <a:ext cx="21008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Comparar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58484" y="5696712"/>
            <a:ext cx="21008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5758B"/>
                </a:solidFill>
              </a:rPr>
              <a:t>real vs virtual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8414766" y="5349240"/>
            <a:ext cx="2192274" cy="676656"/>
          </a:xfrm>
          <a:prstGeom prst="roundRect">
            <a:avLst>
              <a:gd name="adj" fmla="val 10811"/>
            </a:avLst>
          </a:prstGeom>
          <a:solidFill>
            <a:srgbClr val="FDECEC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60486" y="5440680"/>
            <a:ext cx="21008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Alertar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460486" y="5696712"/>
            <a:ext cx="21008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5758B"/>
                </a:solidFill>
              </a:rPr>
              <a:t>desviación sostenida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936</Words>
  <Application>Microsoft Office PowerPoint</Application>
  <PresentationFormat>Panorámica</PresentationFormat>
  <Paragraphs>203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Aptos Mono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Proyecto ML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técnica reducida Soft Sensor LT411</dc:title>
  <dc:subject>Soft Sensor LT411</dc:subject>
  <dc:creator>OpenAI</dc:creator>
  <cp:lastModifiedBy>Juan J Garcia G</cp:lastModifiedBy>
  <cp:revision>5</cp:revision>
  <dcterms:created xsi:type="dcterms:W3CDTF">2026-06-15T07:30:19Z</dcterms:created>
  <dcterms:modified xsi:type="dcterms:W3CDTF">2026-06-15T09:02:20Z</dcterms:modified>
</cp:coreProperties>
</file>