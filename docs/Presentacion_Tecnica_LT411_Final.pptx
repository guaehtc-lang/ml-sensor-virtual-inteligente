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8884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17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Soft Sensor LT411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7680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9C5F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Del sensor físico al sensor virtual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85800" y="2907792"/>
            <a:ext cx="0" cy="86868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28346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Proyecto de Machine Learning industrial para estimar el nivel esperado de VB-01 y detectar desviaciones sostenidas.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PROYECTO ML · SOFT SENSOR LT411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700" dirty="0"/>
          </a:p>
        </p:txBody>
      </p:sp>
      <p:pic>
        <p:nvPicPr>
          <p:cNvPr id="12" name="Picture 11" descr="web_image_ae6f8494a2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325880"/>
            <a:ext cx="4251960" cy="4251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55321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2D9E1"/>
                </a:solidFill>
              </a:rPr>
              <a:t>Ejemplo de instalación real tipo evaporador / cristalizador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01. EL PROBLEMA: CUANDO EL SENSOR YA NO EXPLICA LA PLANTA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640080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nivel de VB-01 se mide con LT411. Si el sensor se ensucia, la señal puede dejar de representar el nivel real.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1874520"/>
            <a:ext cx="4114800" cy="1371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0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LT411 es la variable objetivo del proyecto.
</a:t>
            </a: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0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 señal puede sufrir deriva, bloqueo o lectura falsa.
</a:t>
            </a: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0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control puede actuar sobre una información equivocada.</a:t>
            </a:r>
            <a:endParaRPr lang="en-US" sz="1300" dirty="0"/>
          </a:p>
        </p:txBody>
      </p:sp>
      <p:pic>
        <p:nvPicPr>
          <p:cNvPr id="11" name="Picture 10" descr="esqu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669" y="1452603"/>
            <a:ext cx="5834051" cy="4302725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58ACB80-E8BC-F933-D51F-E3068A29A9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684" y="3320922"/>
            <a:ext cx="3858036" cy="27398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02. DATOS UTILIZADOS: 7 CSV Y UN HISTÓRICO CORTO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 base del proyecto son señales reales de PLC/SCADA, integradas por tiempo y reducidas a una frecuencia modelable.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69164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82880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77240" y="2350008"/>
            <a:ext cx="17373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CSV válidos definitivos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34640" y="1691640"/>
            <a:ext cx="2194560" cy="1051560"/>
          </a:xfrm>
          <a:prstGeom prst="roundRect">
            <a:avLst>
              <a:gd name="adj" fmla="val 695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828800"/>
            <a:ext cx="192024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230.700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71800" y="2350008"/>
            <a:ext cx="1920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registros por CSV principal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257800" y="169164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394960" y="2350008"/>
            <a:ext cx="1645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frecuencia original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60920" y="169164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1828800"/>
            <a:ext cx="16459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s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498080" y="2350008"/>
            <a:ext cx="1645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dataset modelable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2461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3374136"/>
            <a:ext cx="28712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CSV principales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685032"/>
            <a:ext cx="287121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Nivel, presión, temperatura, densidad, vapor, vacío y PCT-02.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60520" y="32461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25112" y="3374136"/>
            <a:ext cx="28712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Archivo excluido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325112" y="3685032"/>
            <a:ext cx="287121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TT_413.csv se conserva por trazabilidad, pero no entra en el flujo principal.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680960" y="3246120"/>
            <a:ext cx="320040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45552" y="3374136"/>
            <a:ext cx="28712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845552" y="3685032"/>
            <a:ext cx="287121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LT411: nivel medido en VB-01. El objetivo es estimar su valor físico esperado.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8680" y="5349240"/>
            <a:ext cx="9875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Limitación de partida: solo ~2,7 días de histórico. El proyecto se defiende como prototipo reproducible, no como validación industrial definitiva.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03. ENFOQUE: CONVERTIR SEÑALES EN DECISIÓN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trabajo se ordena como una cadena cerrada: datos → preparación → modelo → residual → herramienta.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120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7 CSV reales de planta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21488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677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408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Limpieza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408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unión por Time y 10 s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39776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965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96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1696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lags, rolling y deltas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58064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9253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984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A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984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sin leakage directo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76352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7541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272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Residual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272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medido vs estimado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9464040" y="2642616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582912" y="2057400"/>
            <a:ext cx="1691640" cy="1170432"/>
          </a:xfrm>
          <a:prstGeom prst="roundRect">
            <a:avLst>
              <a:gd name="adj" fmla="val 625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56064" y="2203704"/>
            <a:ext cx="154533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Demo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656064" y="2514600"/>
            <a:ext cx="154533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alerta operativa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594360" y="4069080"/>
            <a:ext cx="100584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Lectura: el valor técnico no está solo en entrenar un modelo, sino en controlar cada decisión que puede contaminarlo.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04. PREPARACIÓN: UNIR, CONSERVAR Y REDUCIR RUIDO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877824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Antes de modelar, se construyen dos datasets con objetivos distintos: trazabilidad y modelado.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173736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865376"/>
            <a:ext cx="25968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Dataset maestro 1s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0392" y="2176272"/>
            <a:ext cx="259689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Conserva el histórico unido para trazabilidad. No se pierde la resolución original.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173736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82312" y="1865376"/>
            <a:ext cx="25968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Dataset modelable 10s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2176272"/>
            <a:ext cx="259689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Reduce ruido y autocorrelación manteniendo la dinámica visual de LT411.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49640" y="173736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14232" y="1865376"/>
            <a:ext cx="25968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Sin modificación final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14232" y="2176272"/>
            <a:ext cx="259689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Tras las últimas pruebas, el proyecto se mantiene como estaba.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05840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CSV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78992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señales origen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2889504" y="43662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008376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81528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081528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índice común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892040" y="43662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010912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84064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Unión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84064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inner join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894576" y="43662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013448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86600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086600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media temporal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8897112" y="43662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015984" y="3886200"/>
            <a:ext cx="1865376" cy="960120"/>
          </a:xfrm>
          <a:prstGeom prst="roundRect">
            <a:avLst>
              <a:gd name="adj" fmla="val 7619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9136" y="4032504"/>
            <a:ext cx="1719072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9089136" y="4343400"/>
            <a:ext cx="1719072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dataset ML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05. SPLIT TEMPORAL: ENTRENAR SIN MEZCLAR FUTURO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split aleatorio no es adecuado en una serie temporal industrial. La validación debe respetar el orden real.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1664208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41832" y="2002536"/>
            <a:ext cx="25511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Día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41832" y="2313432"/>
            <a:ext cx="25511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Entrenamiento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Periodo base más limpio.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08576" y="1645920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782312" y="2002536"/>
            <a:ext cx="25511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Día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2313432"/>
            <a:ext cx="25511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Validación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Comprueba generalización en otro día.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458200" y="1641348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622792" y="2002536"/>
            <a:ext cx="25511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064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Día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22792" y="2313432"/>
            <a:ext cx="25511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Test / comportamiento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Incluye posible ensuciamiento o parada.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5504688"/>
            <a:ext cx="94183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E8C33D"/>
                </a:solidFill>
              </a:rPr>
              <a:t>El test no se interpreta como operación limpia: se usa para observar divergencias y comportamiento.</a:t>
            </a:r>
            <a:endParaRPr lang="en-US" sz="1250" dirty="0"/>
          </a:p>
        </p:txBody>
      </p:sp>
      <p:pic>
        <p:nvPicPr>
          <p:cNvPr id="24" name="Picture 23" descr="split_lt4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888" y="3511296"/>
            <a:ext cx="10010887" cy="18451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06. MODELO A LIMPIO: CONTROL ANTI-LEAKAGE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6012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 regla principal del proyecto es evitar que el modelo aprenda la señal contaminada del propio lazo de nivel.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1828800"/>
            <a:ext cx="3108960" cy="1828800"/>
          </a:xfrm>
          <a:prstGeom prst="roundRect">
            <a:avLst>
              <a:gd name="adj" fmla="val 4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1956816"/>
            <a:ext cx="27797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064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Excluido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41832" y="2267712"/>
            <a:ext cx="27797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LV411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SP_LT411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LT411 como feature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Lags de LT411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26280" y="1828800"/>
            <a:ext cx="3108960" cy="1828800"/>
          </a:xfrm>
          <a:prstGeom prst="roundRect">
            <a:avLst>
              <a:gd name="adj" fmla="val 4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0872" y="1956816"/>
            <a:ext cx="27797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9D8A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Permitido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90872" y="2267712"/>
            <a:ext cx="27797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Presión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Temperatura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Vacío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Vapor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Densidad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Caudal y variables físicas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75320" y="1828800"/>
            <a:ext cx="3108960" cy="1828800"/>
          </a:xfrm>
          <a:prstGeom prst="roundRect">
            <a:avLst>
              <a:gd name="adj" fmla="val 4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39912" y="1956816"/>
            <a:ext cx="277977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39912" y="2267712"/>
            <a:ext cx="2779776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Estimar el nivel físico esperado, no copiar el sensor medido.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4892040"/>
            <a:ext cx="98755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Decisión técnica: LV411 se reserva para auditoría, no para el modelo principal.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07. FEATURE ENGINEERING: MEMORIA TEMPORAL SIN FUTURO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50976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dataset final incorpora dinámica temporal, pero solo con información disponible en el presente o en el pasado.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69164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1828800"/>
            <a:ext cx="18288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77240" y="235000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variables predictoras finales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971800" y="16916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0896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108960" y="2350008"/>
            <a:ext cx="1554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variables base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0" y="16916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6636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166360" y="2350008"/>
            <a:ext cx="1554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lags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86600" y="16916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223760" y="2350008"/>
            <a:ext cx="1554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rolling features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0" y="169164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2350008"/>
            <a:ext cx="15544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deltas temporales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14400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87552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87552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señales físicas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2871216" y="44805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990088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063240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Lags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063240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memoria reciente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946904" y="44805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065776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38928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Rolling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138928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tendencia y variabilidad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7022592" y="44805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141464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14616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Deltas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214616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cambio entre muestras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9098280" y="448056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217152" y="3977640"/>
            <a:ext cx="1938528" cy="1005840"/>
          </a:xfrm>
          <a:prstGeom prst="roundRect">
            <a:avLst>
              <a:gd name="adj" fmla="val 727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90304" y="412394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Dropna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290304" y="4434840"/>
            <a:ext cx="1792224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auditoría inicial</a:t>
            </a:r>
            <a:endParaRPr lang="en-US" sz="920" dirty="0"/>
          </a:p>
        </p:txBody>
      </p:sp>
      <p:sp>
        <p:nvSpPr>
          <p:cNvPr id="44" name="Text 42"/>
          <p:cNvSpPr/>
          <p:nvPr/>
        </p:nvSpPr>
        <p:spPr>
          <a:xfrm>
            <a:off x="914400" y="5257800"/>
            <a:ext cx="9875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Regla: nada de medias centradas, backfill ni variables futuras.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08. MODELOS EVALUADOS: COMPARAR ANTES DE ELEGIR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6012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E6EBF0"/>
                </a:solidFill>
              </a:rPr>
              <a:t>Se compararon modelos lineales y no lineales. La decisión final combina métricas y lectura temporal de la señal.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18288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1956816"/>
            <a:ext cx="200253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Lineales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2267712"/>
            <a:ext cx="200253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Linear Regression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Ridge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18288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02152" y="1956816"/>
            <a:ext cx="21396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Bosques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02152" y="2267712"/>
            <a:ext cx="21396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Random Forest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Modelo final optimizado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18288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6792" y="1956816"/>
            <a:ext cx="21396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36792" y="2267712"/>
            <a:ext cx="21396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Gradient Boosting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Candidato comparado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06840" y="18288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71432" y="1956816"/>
            <a:ext cx="213969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18C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Kernel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71432" y="2267712"/>
            <a:ext cx="21396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SVR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Candidato comparado</a:t>
            </a:r>
            <a:endParaRPr lang="en-US" sz="1100" dirty="0"/>
          </a:p>
        </p:txBody>
      </p:sp>
      <p:pic>
        <p:nvPicPr>
          <p:cNvPr id="22" name="Picture 21" descr="rf_validacion_mejor_seg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429000"/>
            <a:ext cx="969264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09. RESULTADOS: RANDOM FOREST QUEDA COMO MODELO FINAL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50976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En validación, Random Forest obtiene el menor MAE de los tres candidatos optimizados.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13232" y="1664208"/>
            <a:ext cx="4937760" cy="2057400"/>
          </a:xfrm>
          <a:prstGeom prst="roundRect">
            <a:avLst>
              <a:gd name="adj" fmla="val 3556"/>
            </a:avLst>
          </a:prstGeom>
          <a:solidFill>
            <a:srgbClr val="0E2135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28800"/>
            <a:ext cx="44805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MAE validación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331720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RandomForest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2194560" y="2377440"/>
            <a:ext cx="2468880" cy="164592"/>
          </a:xfrm>
          <a:prstGeom prst="rect">
            <a:avLst/>
          </a:prstGeom>
          <a:solidFill>
            <a:srgbClr val="203B55"/>
          </a:solidFill>
          <a:ln w="12700">
            <a:solidFill>
              <a:srgbClr val="203B55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2377440"/>
            <a:ext cx="2209929" cy="164592"/>
          </a:xfrm>
          <a:prstGeom prst="rect">
            <a:avLst/>
          </a:prstGeom>
          <a:solidFill>
            <a:srgbClr val="39C5F6"/>
          </a:solidFill>
          <a:ln w="12700">
            <a:solidFill>
              <a:srgbClr val="39C5F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313432"/>
            <a:ext cx="640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3.76 puntos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60120" y="2682240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SVR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2194560" y="2727960"/>
            <a:ext cx="2468880" cy="164592"/>
          </a:xfrm>
          <a:prstGeom prst="rect">
            <a:avLst/>
          </a:prstGeom>
          <a:solidFill>
            <a:srgbClr val="203B55"/>
          </a:solidFill>
          <a:ln w="12700">
            <a:solidFill>
              <a:srgbClr val="203B55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2727960"/>
            <a:ext cx="2375789" cy="164592"/>
          </a:xfrm>
          <a:prstGeom prst="rect">
            <a:avLst/>
          </a:prstGeom>
          <a:solidFill>
            <a:srgbClr val="B18CFF"/>
          </a:solidFill>
          <a:ln w="12700">
            <a:solidFill>
              <a:srgbClr val="B18C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2663952"/>
            <a:ext cx="640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4.04 puntos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60120" y="3032760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GradientBoosting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2194560" y="3078480"/>
            <a:ext cx="2468880" cy="164592"/>
          </a:xfrm>
          <a:prstGeom prst="rect">
            <a:avLst/>
          </a:prstGeom>
          <a:solidFill>
            <a:srgbClr val="203B55"/>
          </a:solidFill>
          <a:ln w="12700">
            <a:solidFill>
              <a:srgbClr val="203B55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3078480"/>
            <a:ext cx="2396739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3014472"/>
            <a:ext cx="6400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4.08 puntos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1664208"/>
            <a:ext cx="4754880" cy="2057400"/>
          </a:xfrm>
          <a:prstGeom prst="roundRect">
            <a:avLst>
              <a:gd name="adj" fmla="val 3556"/>
            </a:avLst>
          </a:prstGeom>
          <a:solidFill>
            <a:srgbClr val="0E2135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1828800"/>
            <a:ext cx="43891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Métricas RF validación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46520" y="2304288"/>
            <a:ext cx="1325880" cy="938784"/>
          </a:xfrm>
          <a:prstGeom prst="roundRect">
            <a:avLst>
              <a:gd name="adj" fmla="val 9412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2441448"/>
            <a:ext cx="1051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3,76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6583680" y="2962656"/>
            <a:ext cx="105156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>
            <a:lvl1pPr algn="l"/>
          </a:lstStyle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MAE validación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955280" y="2304288"/>
            <a:ext cx="1325880" cy="938784"/>
          </a:xfrm>
          <a:prstGeom prst="roundRect">
            <a:avLst>
              <a:gd name="adj" fmla="val 9412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92440" y="2441448"/>
            <a:ext cx="1051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5,52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092440" y="2962656"/>
            <a:ext cx="105156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>
            <a:lvl1pPr algn="l"/>
          </a:lstStyle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RMSE validación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464040" y="2304288"/>
            <a:ext cx="1325880" cy="938784"/>
          </a:xfrm>
          <a:prstGeom prst="roundRect">
            <a:avLst>
              <a:gd name="adj" fmla="val 9412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01200" y="2441448"/>
            <a:ext cx="10515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0,205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9601200" y="2962656"/>
            <a:ext cx="105156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>
            <a:lvl1pPr algn="l"/>
          </a:lstStyle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R² validación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60120" y="4407408"/>
            <a:ext cx="98755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Lectura: buena capacidad de seguimiento, pero con limitaciones por histórico corto y variación entre días.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60120" y="4983480"/>
            <a:ext cx="9875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Gap MAE RF train-validación: 2,97 puntos. Se mantiene como resultado conocido y no se oculta.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600" b="1">
                <a:solidFill>
                  <a:srgbClr val="E6EBF0"/>
                </a:solidFill>
              </a:rPr>
              <a:t>10. VALIDACIÓN TÉCNICA Y SALIDA OPERATIVA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EF2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E6EBF0"/>
                </a:solidFill>
              </a:rPr>
              <a:t>La selección final se apoya en reglas metodológicas claras y en una salida útil para operación.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44C7F4"/>
                </a:solidFill>
              </a:rPr>
              <a:t>Métrica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5895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RF con menor MAE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en validación</a:t>
            </a:r>
          </a:p>
        </p:txBody>
      </p:sp>
      <p:sp>
        <p:nvSpPr>
          <p:cNvPr id="13" name="Shape 11"/>
          <p:cNvSpPr/>
          <p:nvPr/>
        </p:nvSpPr>
        <p:spPr>
          <a:xfrm>
            <a:off x="2715768" y="262890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83464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0779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44C7F4"/>
                </a:solidFill>
              </a:rPr>
              <a:t>Generalización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0779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Gap train-validación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controlado</a:t>
            </a:r>
          </a:p>
        </p:txBody>
      </p:sp>
      <p:sp>
        <p:nvSpPr>
          <p:cNvPr id="17" name="Shape 15"/>
          <p:cNvSpPr/>
          <p:nvPr/>
        </p:nvSpPr>
        <p:spPr>
          <a:xfrm>
            <a:off x="4864608" y="262890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98348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5663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44C7F4"/>
                </a:solidFill>
              </a:rPr>
              <a:t>Leakage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5663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Sin LV411 ni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LT411 lagged</a:t>
            </a:r>
          </a:p>
        </p:txBody>
      </p:sp>
      <p:sp>
        <p:nvSpPr>
          <p:cNvPr id="21" name="Shape 19"/>
          <p:cNvSpPr/>
          <p:nvPr/>
        </p:nvSpPr>
        <p:spPr>
          <a:xfrm>
            <a:off x="7013448" y="262890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3232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0547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E0BC3C"/>
                </a:solidFill>
              </a:rPr>
              <a:t>Residual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20547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| LT411 real -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LT411 predicho |</a:t>
            </a:r>
          </a:p>
        </p:txBody>
      </p:sp>
      <p:sp>
        <p:nvSpPr>
          <p:cNvPr id="25" name="Shape 23"/>
          <p:cNvSpPr/>
          <p:nvPr/>
        </p:nvSpPr>
        <p:spPr>
          <a:xfrm>
            <a:off x="9162288" y="262890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281160" y="205740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354312" y="2203704"/>
            <a:ext cx="1865376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800" b="1">
                <a:solidFill>
                  <a:srgbClr val="44C7F4"/>
                </a:solidFill>
              </a:rPr>
              <a:t>Uso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354312" y="2514600"/>
            <a:ext cx="186537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sz="1400" b="0">
                <a:solidFill>
                  <a:srgbClr val="E6EBF0"/>
                </a:solidFill>
              </a:rPr>
              <a:t>Umbral + persistencia</a:t>
            </a:r>
            <a:endParaRPr lang="en-US" sz="920" dirty="0"/>
          </a:p>
          <a:p>
            <a:pPr algn="ctr"/>
            <a:r>
              <a:rPr sz="1400" b="0">
                <a:solidFill>
                  <a:srgbClr val="E6EBF0"/>
                </a:solidFill>
              </a:rPr>
              <a:t>en Streamlit</a:t>
            </a:r>
          </a:p>
        </p:txBody>
      </p:sp>
      <p:sp>
        <p:nvSpPr>
          <p:cNvPr id="29" name="Shape 27"/>
          <p:cNvSpPr/>
          <p:nvPr/>
        </p:nvSpPr>
        <p:spPr>
          <a:xfrm>
            <a:off x="914400" y="3977639"/>
            <a:ext cx="4572000" cy="1481865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78992" y="4105656"/>
            <a:ext cx="42428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44C7F4"/>
                </a:solidFill>
              </a:rPr>
              <a:t>Variables más influyentes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78992" y="4416552"/>
            <a:ext cx="424281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350" b="0">
                <a:solidFill>
                  <a:srgbClr val="E6EBF0"/>
                </a:solidFill>
              </a:rPr>
              <a:t>DELTA_PIT_delta_6</a:t>
            </a:r>
            <a:endParaRPr lang="en-US" sz="1100" dirty="0"/>
          </a:p>
          <a:p>
            <a:r>
              <a:rPr sz="1350" b="0">
                <a:solidFill>
                  <a:srgbClr val="E6EBF0"/>
                </a:solidFill>
              </a:rPr>
              <a:t>PIT414_delta_6</a:t>
            </a:r>
          </a:p>
          <a:p>
            <a:r>
              <a:rPr sz="1350" b="0">
                <a:solidFill>
                  <a:srgbClr val="E6EBF0"/>
                </a:solidFill>
              </a:rPr>
              <a:t>DELTA_PIT</a:t>
            </a:r>
          </a:p>
          <a:p>
            <a:r>
              <a:rPr sz="1350" b="0">
                <a:solidFill>
                  <a:srgbClr val="E6EBF0"/>
                </a:solidFill>
              </a:rPr>
              <a:t>INT_P101</a:t>
            </a:r>
          </a:p>
        </p:txBody>
      </p:sp>
      <p:sp>
        <p:nvSpPr>
          <p:cNvPr id="32" name="Shape 30"/>
          <p:cNvSpPr/>
          <p:nvPr/>
        </p:nvSpPr>
        <p:spPr>
          <a:xfrm>
            <a:off x="6126480" y="397764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91072" y="4105656"/>
            <a:ext cx="424281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E0BC3C"/>
                </a:solidFill>
              </a:rPr>
              <a:t>Pruebas descartadas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91072" y="4416552"/>
            <a:ext cx="424281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sz="1350" b="0">
                <a:solidFill>
                  <a:srgbClr val="E6EBF0"/>
                </a:solidFill>
              </a:rPr>
              <a:t>Más optimización y deep learning no mejoraron el resultado.</a:t>
            </a:r>
            <a:endParaRPr lang="en-US" sz="1100" dirty="0"/>
          </a:p>
          <a:p>
            <a:r>
              <a:rPr sz="1350" b="0">
                <a:solidFill>
                  <a:srgbClr val="E6EBF0"/>
                </a:solidFill>
              </a:rPr>
              <a:t>Apareció sobreajuste, por eso se mantiene la versión actual.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600" b="1">
                <a:solidFill>
                  <a:srgbClr val="E6EBF0"/>
                </a:solidFill>
              </a:rPr>
              <a:t>11. LIMITACIONES: LO QUE NO DEBE SOBREINTERPRETARSE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600" b="1">
                <a:solidFill>
                  <a:srgbClr val="E6EBF0"/>
                </a:solidFill>
              </a:rPr>
              <a:t>12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4183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prototipo es defendible como proyecto de ML industrial, pero no como sistema productivo validado.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783080"/>
            <a:ext cx="4846320" cy="2468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Histórico corto: aproximadamente 2,7 días.
</a:t>
            </a: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No existe etiqueta formal de fallo de LT411.
</a:t>
            </a: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test incluye comportamiento anómalo y posible parada.
</a:t>
            </a: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No hay conexión real con PLC/SCADA.
</a:t>
            </a:r>
            <a:r>
              <a:rPr lang="en-US" sz="135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• </a:t>
            </a:r>
            <a:r>
              <a:rPr lang="en-US" sz="13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Resultados no extrapolables sin nuevos datos.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1965960"/>
            <a:ext cx="438912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2512" y="2093976"/>
            <a:ext cx="405993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Narrativa correcta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82512" y="2404872"/>
            <a:ext cx="405993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Metodología reproducible y prototipo funcional para estimar nivel esperado y analizar desviaciones sostenidas.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3611880"/>
            <a:ext cx="4389120" cy="1234440"/>
          </a:xfrm>
          <a:prstGeom prst="roundRect">
            <a:avLst>
              <a:gd name="adj" fmla="val 5926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3739896"/>
            <a:ext cx="4059936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Siguiente paso industrial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82512" y="4050792"/>
            <a:ext cx="4059936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B8C7D6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Añadir más campañas de planta, etiquetar eventos y validar contra operación real.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5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8360" y="-18288"/>
            <a:ext cx="2487168" cy="2487168"/>
          </a:xfrm>
          <a:prstGeom prst="ellipse">
            <a:avLst/>
          </a:prstGeom>
          <a:solidFill>
            <a:srgbClr val="214B72">
              <a:alpha val="88000"/>
            </a:srgbClr>
          </a:solidFill>
          <a:ln w="12700">
            <a:solidFill>
              <a:srgbClr val="214B72">
                <a:alpha val="8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0"/>
            <a:ext cx="2057400" cy="2057400"/>
          </a:xfrm>
          <a:prstGeom prst="ellipse">
            <a:avLst/>
          </a:prstGeom>
          <a:solidFill>
            <a:srgbClr val="2D638F">
              <a:alpha val="82000"/>
            </a:srgbClr>
          </a:solidFill>
          <a:ln w="12700">
            <a:solidFill>
              <a:srgbClr val="2D638F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38360" y="3108960"/>
            <a:ext cx="1719072" cy="2670048"/>
          </a:xfrm>
          <a:prstGeom prst="ellipse">
            <a:avLst/>
          </a:prstGeom>
          <a:solidFill>
            <a:srgbClr val="102A44">
              <a:alpha val="90000"/>
            </a:srgbClr>
          </a:solidFill>
          <a:ln w="12700">
            <a:solidFill>
              <a:srgbClr val="214B72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472" y="758952"/>
            <a:ext cx="11475720" cy="0"/>
          </a:xfrm>
          <a:prstGeom prst="line">
            <a:avLst/>
          </a:prstGeom>
          <a:noFill/>
          <a:ln w="15240">
            <a:solidFill>
              <a:srgbClr val="D4AF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7472" y="283464"/>
            <a:ext cx="9601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sz="2600" b="1">
                <a:solidFill>
                  <a:srgbClr val="E6EBF0"/>
                </a:solidFill>
              </a:rPr>
              <a:t>12. RESULTADO FINAL: PROTOTIPO TÉCNICO DEFENDIBLE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29184" y="6473952"/>
            <a:ext cx="4206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7F91A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 · Soft Sensor LT411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11475720" y="6327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2600" b="1">
                <a:solidFill>
                  <a:srgbClr val="E6EBF0"/>
                </a:solidFill>
              </a:rPr>
              <a:t>13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" y="960120"/>
            <a:ext cx="91440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El proyecto termina con un flujo reproducible, un modelo entrenado y una herramienta de demostración.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17830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2441448"/>
            <a:ext cx="173736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limpio anti-leakage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17830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RF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383280" y="2441448"/>
            <a:ext cx="173736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modelo final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23560" y="17830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Streamlit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760720" y="2441448"/>
            <a:ext cx="173736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demo ejecutable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01000" y="178308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4AF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138160" y="2441448"/>
            <a:ext cx="1737360" cy="137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residual sostenido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4400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87552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señales SCADA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871216" y="443484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990088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63240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063240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dataset único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4946904" y="443484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065776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38928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Modelar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38928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nivel esperado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7022592" y="443484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141464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14616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Comparar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214616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sensor real vs virtual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9098280" y="4434840"/>
            <a:ext cx="100584" cy="0"/>
          </a:xfrm>
          <a:prstGeom prst="line">
            <a:avLst/>
          </a:prstGeom>
          <a:noFill/>
          <a:ln w="17780">
            <a:solidFill>
              <a:srgbClr val="D4AF37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217152" y="3886200"/>
            <a:ext cx="1938528" cy="1097280"/>
          </a:xfrm>
          <a:prstGeom prst="roundRect">
            <a:avLst>
              <a:gd name="adj" fmla="val 6667"/>
            </a:avLst>
          </a:prstGeom>
          <a:solidFill>
            <a:srgbClr val="102A44"/>
          </a:solidFill>
          <a:ln w="12700">
            <a:solidFill>
              <a:srgbClr val="2D587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90304" y="4032504"/>
            <a:ext cx="17922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9C5F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290304" y="4343400"/>
            <a:ext cx="1792224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EF2F8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desviación sostenida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914400" y="5349240"/>
            <a:ext cx="102412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F37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Idea final: el soft sensor no sustituye la planta; ayuda a interpretar cuándo el sensor físico puede dejar de ser fiable.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 Condense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1135</Words>
  <Application>Microsoft Office PowerPoint</Application>
  <PresentationFormat>Panorámica</PresentationFormat>
  <Paragraphs>233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Montserrat</vt:lpstr>
      <vt:lpstr>Roboto Condensed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Proyecto ML Soft Sensor LT411</dc:subject>
  <dc:creator>OpenAI</dc:creator>
  <cp:lastModifiedBy>Juan J Garcia G</cp:lastModifiedBy>
  <cp:revision>4</cp:revision>
  <dcterms:created xsi:type="dcterms:W3CDTF">2026-06-14T09:34:34Z</dcterms:created>
  <dcterms:modified xsi:type="dcterms:W3CDTF">2026-06-14T19:51:41Z</dcterms:modified>
</cp:coreProperties>
</file>